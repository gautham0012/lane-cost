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160520"/>
            <a:ext cx="12188952" cy="2697480"/>
          </a:xfrm>
          <a:prstGeom prst="rect">
            <a:avLst/>
          </a:prstGeom>
          <a:solidFill>
            <a:srgbClr val="17204F"/>
          </a:solidFill>
          <a:ln/>
        </p:spPr>
      </p:sp>
      <p:sp>
        <p:nvSpPr>
          <p:cNvPr id="3" name="Text 1"/>
          <p:cNvSpPr txBox="1"/>
          <p:nvPr/>
        </p:nvSpPr>
        <p:spPr>
          <a:xfrm>
            <a:off x="822960" y="1965960"/>
            <a:ext cx="10515600" cy="18288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Veltris Vehicle Shipment</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Cost Modeling</a:t>
            </a:r>
            <a:endParaRPr lang="en-US" sz="4400" dirty="0"/>
          </a:p>
        </p:txBody>
      </p:sp>
      <p:sp>
        <p:nvSpPr>
          <p:cNvPr id="4" name="Text 2"/>
          <p:cNvSpPr txBox="1"/>
          <p:nvPr/>
        </p:nvSpPr>
        <p:spPr>
          <a:xfrm>
            <a:off x="822960" y="4343400"/>
            <a:ext cx="10058400" cy="4572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Data Preprocessing • Feature Reduction • EDA • Predictive Modeling</a:t>
            </a:r>
            <a:endParaRPr lang="en-US" sz="1800" dirty="0"/>
          </a:p>
        </p:txBody>
      </p:sp>
      <p:sp>
        <p:nvSpPr>
          <p:cNvPr id="5" name="Text 3"/>
          <p:cNvSpPr txBox="1"/>
          <p:nvPr/>
        </p:nvSpPr>
        <p:spPr>
          <a:xfrm>
            <a:off x="822960" y="4892040"/>
            <a:ext cx="10058400" cy="365760"/>
          </a:xfrm>
          <a:prstGeom prst="rect">
            <a:avLst/>
          </a:prstGeom>
          <a:noFill/>
          <a:ln/>
        </p:spPr>
        <p:txBody>
          <a:bodyPr wrap="square" rtlCol="0" anchor="ctr"/>
          <a:lstStyle/>
          <a:p>
            <a:pPr indent="0" marL="0">
              <a:buNone/>
            </a:pPr>
            <a:r>
              <a:rPr lang="en-US" sz="1300" dirty="0">
                <a:solidFill>
                  <a:srgbClr val="9FB3E8"/>
                </a:solidFill>
                <a:latin typeface="Calibri" pitchFamily="34" charset="0"/>
                <a:ea typeface="Calibri" pitchFamily="34" charset="-122"/>
                <a:cs typeface="Calibri" pitchFamily="34" charset="-120"/>
              </a:rPr>
              <a:t>Dataset: Veltris-Vehicle.xlsx  |  Target: TotalCost (USD)  |  2026-08-29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305,838 raw shipments → 24 predictive features → 18 models compared</a:t>
            </a:r>
            <a:endParaRPr lang="en-US" sz="1400" dirty="0"/>
          </a:p>
        </p:txBody>
      </p:sp>
      <p:sp>
        <p:nvSpPr>
          <p:cNvPr id="4" name="Shape 2"/>
          <p:cNvSpPr/>
          <p:nvPr/>
        </p:nvSpPr>
        <p:spPr>
          <a:xfrm>
            <a:off x="548640" y="1508760"/>
            <a:ext cx="2606040" cy="1737360"/>
          </a:xfrm>
          <a:prstGeom prst="roundRect">
            <a:avLst>
              <a:gd name="adj" fmla="val 4211"/>
            </a:avLst>
          </a:prstGeom>
          <a:solidFill>
            <a:srgbClr val="F3F5FC"/>
          </a:solidFill>
          <a:ln w="12700">
            <a:solidFill>
              <a:srgbClr val="CADCFC"/>
            </a:solidFill>
            <a:prstDash val="solid"/>
          </a:ln>
        </p:spPr>
      </p:sp>
      <p:sp>
        <p:nvSpPr>
          <p:cNvPr id="5" name="Text 3"/>
          <p:cNvSpPr txBox="1"/>
          <p:nvPr/>
        </p:nvSpPr>
        <p:spPr>
          <a:xfrm>
            <a:off x="548640" y="1645920"/>
            <a:ext cx="2606040" cy="777240"/>
          </a:xfrm>
          <a:prstGeom prst="rect">
            <a:avLst/>
          </a:prstGeom>
          <a:noFill/>
          <a:ln/>
        </p:spPr>
        <p:txBody>
          <a:bodyPr wrap="square"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83%</a:t>
            </a:r>
            <a:endParaRPr lang="en-US" sz="3600" dirty="0"/>
          </a:p>
        </p:txBody>
      </p:sp>
      <p:sp>
        <p:nvSpPr>
          <p:cNvPr id="6" name="Text 4"/>
          <p:cNvSpPr txBox="1"/>
          <p:nvPr/>
        </p:nvSpPr>
        <p:spPr>
          <a:xfrm>
            <a:off x="640080" y="2423160"/>
            <a:ext cx="2423160" cy="731520"/>
          </a:xfrm>
          <a:prstGeom prst="rect">
            <a:avLst/>
          </a:prstGeom>
          <a:noFill/>
          <a:ln/>
        </p:spPr>
        <p:txBody>
          <a:bodyPr wrap="square" rtlCol="0" anchor="ctr"/>
          <a:lstStyle/>
          <a:p>
            <a:pPr algn="ctr" indent="0" marL="0">
              <a:buNone/>
            </a:pPr>
            <a:r>
              <a:rPr lang="en-US" sz="1150" dirty="0">
                <a:solidFill>
                  <a:srgbClr val="3A3F5C"/>
                </a:solidFill>
                <a:latin typeface="Calibri" pitchFamily="34" charset="0"/>
                <a:ea typeface="Calibri" pitchFamily="34" charset="-122"/>
                <a:cs typeface="Calibri" pitchFamily="34" charset="-120"/>
              </a:rPr>
              <a:t>dimensionality reduction</a:t>
            </a:r>
            <a:endParaRPr lang="en-US" sz="1150" dirty="0"/>
          </a:p>
          <a:p>
            <a:pPr algn="ctr" indent="0" marL="0">
              <a:buNone/>
            </a:pPr>
            <a:r>
              <a:rPr lang="en-US" sz="1150" dirty="0">
                <a:solidFill>
                  <a:srgbClr val="3A3F5C"/>
                </a:solidFill>
                <a:latin typeface="Calibri" pitchFamily="34" charset="0"/>
                <a:ea typeface="Calibri" pitchFamily="34" charset="-122"/>
                <a:cs typeface="Calibri" pitchFamily="34" charset="-120"/>
              </a:rPr>
              <a:t>(145 → 24 features)</a:t>
            </a:r>
            <a:endParaRPr lang="en-US" sz="1150" dirty="0"/>
          </a:p>
        </p:txBody>
      </p:sp>
      <p:sp>
        <p:nvSpPr>
          <p:cNvPr id="7" name="Shape 5"/>
          <p:cNvSpPr/>
          <p:nvPr/>
        </p:nvSpPr>
        <p:spPr>
          <a:xfrm>
            <a:off x="3410712" y="1508760"/>
            <a:ext cx="2606040" cy="1737360"/>
          </a:xfrm>
          <a:prstGeom prst="roundRect">
            <a:avLst>
              <a:gd name="adj" fmla="val 4211"/>
            </a:avLst>
          </a:prstGeom>
          <a:solidFill>
            <a:srgbClr val="F3F5FC"/>
          </a:solidFill>
          <a:ln w="12700">
            <a:solidFill>
              <a:srgbClr val="CADCFC"/>
            </a:solidFill>
            <a:prstDash val="solid"/>
          </a:ln>
        </p:spPr>
      </p:sp>
      <p:sp>
        <p:nvSpPr>
          <p:cNvPr id="8" name="Text 6"/>
          <p:cNvSpPr txBox="1"/>
          <p:nvPr/>
        </p:nvSpPr>
        <p:spPr>
          <a:xfrm>
            <a:off x="3410712" y="1645920"/>
            <a:ext cx="2606040" cy="777240"/>
          </a:xfrm>
          <a:prstGeom prst="rect">
            <a:avLst/>
          </a:prstGeom>
          <a:noFill/>
          <a:ln/>
        </p:spPr>
        <p:txBody>
          <a:bodyPr wrap="square"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0.947</a:t>
            </a:r>
            <a:endParaRPr lang="en-US" sz="3600" dirty="0"/>
          </a:p>
        </p:txBody>
      </p:sp>
      <p:sp>
        <p:nvSpPr>
          <p:cNvPr id="9" name="Text 7"/>
          <p:cNvSpPr txBox="1"/>
          <p:nvPr/>
        </p:nvSpPr>
        <p:spPr>
          <a:xfrm>
            <a:off x="3502152" y="2423160"/>
            <a:ext cx="2423160" cy="731520"/>
          </a:xfrm>
          <a:prstGeom prst="rect">
            <a:avLst/>
          </a:prstGeom>
          <a:noFill/>
          <a:ln/>
        </p:spPr>
        <p:txBody>
          <a:bodyPr wrap="square" rtlCol="0" anchor="ctr"/>
          <a:lstStyle/>
          <a:p>
            <a:pPr algn="ctr" indent="0" marL="0">
              <a:buNone/>
            </a:pPr>
            <a:r>
              <a:rPr lang="en-US" sz="1150" dirty="0">
                <a:solidFill>
                  <a:srgbClr val="3A3F5C"/>
                </a:solidFill>
                <a:latin typeface="Calibri" pitchFamily="34" charset="0"/>
                <a:ea typeface="Calibri" pitchFamily="34" charset="-122"/>
                <a:cs typeface="Calibri" pitchFamily="34" charset="-120"/>
              </a:rPr>
              <a:t>best test R²</a:t>
            </a:r>
            <a:endParaRPr lang="en-US" sz="1150" dirty="0"/>
          </a:p>
          <a:p>
            <a:pPr algn="ctr" indent="0" marL="0">
              <a:buNone/>
            </a:pPr>
            <a:r>
              <a:rPr lang="en-US" sz="1150" dirty="0">
                <a:solidFill>
                  <a:srgbClr val="3A3F5C"/>
                </a:solidFill>
                <a:latin typeface="Calibri" pitchFamily="34" charset="0"/>
                <a:ea typeface="Calibri" pitchFamily="34" charset="-122"/>
                <a:cs typeface="Calibri" pitchFamily="34" charset="-120"/>
              </a:rPr>
              <a:t>(Overall, XGBoost)</a:t>
            </a:r>
            <a:endParaRPr lang="en-US" sz="1150" dirty="0"/>
          </a:p>
        </p:txBody>
      </p:sp>
      <p:sp>
        <p:nvSpPr>
          <p:cNvPr id="10" name="Shape 8"/>
          <p:cNvSpPr/>
          <p:nvPr/>
        </p:nvSpPr>
        <p:spPr>
          <a:xfrm>
            <a:off x="6272784" y="1508760"/>
            <a:ext cx="2606040" cy="1737360"/>
          </a:xfrm>
          <a:prstGeom prst="roundRect">
            <a:avLst>
              <a:gd name="adj" fmla="val 4211"/>
            </a:avLst>
          </a:prstGeom>
          <a:solidFill>
            <a:srgbClr val="F3F5FC"/>
          </a:solidFill>
          <a:ln w="12700">
            <a:solidFill>
              <a:srgbClr val="CADCFC"/>
            </a:solidFill>
            <a:prstDash val="solid"/>
          </a:ln>
        </p:spPr>
      </p:sp>
      <p:sp>
        <p:nvSpPr>
          <p:cNvPr id="11" name="Text 9"/>
          <p:cNvSpPr txBox="1"/>
          <p:nvPr/>
        </p:nvSpPr>
        <p:spPr>
          <a:xfrm>
            <a:off x="6272784" y="1645920"/>
            <a:ext cx="2606040" cy="777240"/>
          </a:xfrm>
          <a:prstGeom prst="rect">
            <a:avLst/>
          </a:prstGeom>
          <a:noFill/>
          <a:ln/>
        </p:spPr>
        <p:txBody>
          <a:bodyPr wrap="square"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$86</a:t>
            </a:r>
            <a:endParaRPr lang="en-US" sz="3600" dirty="0"/>
          </a:p>
        </p:txBody>
      </p:sp>
      <p:sp>
        <p:nvSpPr>
          <p:cNvPr id="12" name="Text 10"/>
          <p:cNvSpPr txBox="1"/>
          <p:nvPr/>
        </p:nvSpPr>
        <p:spPr>
          <a:xfrm>
            <a:off x="6364224" y="2423160"/>
            <a:ext cx="2423160" cy="731520"/>
          </a:xfrm>
          <a:prstGeom prst="rect">
            <a:avLst/>
          </a:prstGeom>
          <a:noFill/>
          <a:ln/>
        </p:spPr>
        <p:txBody>
          <a:bodyPr wrap="square" rtlCol="0" anchor="ctr"/>
          <a:lstStyle/>
          <a:p>
            <a:pPr algn="ctr" indent="0" marL="0">
              <a:buNone/>
            </a:pPr>
            <a:r>
              <a:rPr lang="en-US" sz="1150" dirty="0">
                <a:solidFill>
                  <a:srgbClr val="3A3F5C"/>
                </a:solidFill>
                <a:latin typeface="Calibri" pitchFamily="34" charset="0"/>
                <a:ea typeface="Calibri" pitchFamily="34" charset="-122"/>
                <a:cs typeface="Calibri" pitchFamily="34" charset="-120"/>
              </a:rPr>
              <a:t>MAE on Overall model</a:t>
            </a:r>
            <a:endParaRPr lang="en-US" sz="1150" dirty="0"/>
          </a:p>
          <a:p>
            <a:pPr algn="ctr" indent="0" marL="0">
              <a:buNone/>
            </a:pPr>
            <a:r>
              <a:rPr lang="en-US" sz="1150" dirty="0">
                <a:solidFill>
                  <a:srgbClr val="3A3F5C"/>
                </a:solidFill>
                <a:latin typeface="Calibri" pitchFamily="34" charset="0"/>
                <a:ea typeface="Calibri" pitchFamily="34" charset="-122"/>
                <a:cs typeface="Calibri" pitchFamily="34" charset="-120"/>
              </a:rPr>
              <a:t>(XGBoost, raw target)</a:t>
            </a:r>
            <a:endParaRPr lang="en-US" sz="1150" dirty="0"/>
          </a:p>
        </p:txBody>
      </p:sp>
      <p:sp>
        <p:nvSpPr>
          <p:cNvPr id="13" name="Shape 11"/>
          <p:cNvSpPr/>
          <p:nvPr/>
        </p:nvSpPr>
        <p:spPr>
          <a:xfrm>
            <a:off x="9134856" y="1508760"/>
            <a:ext cx="2606040" cy="1737360"/>
          </a:xfrm>
          <a:prstGeom prst="roundRect">
            <a:avLst>
              <a:gd name="adj" fmla="val 4211"/>
            </a:avLst>
          </a:prstGeom>
          <a:solidFill>
            <a:srgbClr val="F3F5FC"/>
          </a:solidFill>
          <a:ln w="12700">
            <a:solidFill>
              <a:srgbClr val="CADCFC"/>
            </a:solidFill>
            <a:prstDash val="solid"/>
          </a:ln>
        </p:spPr>
      </p:sp>
      <p:sp>
        <p:nvSpPr>
          <p:cNvPr id="14" name="Text 12"/>
          <p:cNvSpPr txBox="1"/>
          <p:nvPr/>
        </p:nvSpPr>
        <p:spPr>
          <a:xfrm>
            <a:off x="9134856" y="1645920"/>
            <a:ext cx="2606040" cy="777240"/>
          </a:xfrm>
          <a:prstGeom prst="rect">
            <a:avLst/>
          </a:prstGeom>
          <a:noFill/>
          <a:ln/>
        </p:spPr>
        <p:txBody>
          <a:bodyPr wrap="square"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18</a:t>
            </a:r>
            <a:endParaRPr lang="en-US" sz="3600" dirty="0"/>
          </a:p>
        </p:txBody>
      </p:sp>
      <p:sp>
        <p:nvSpPr>
          <p:cNvPr id="15" name="Text 13"/>
          <p:cNvSpPr txBox="1"/>
          <p:nvPr/>
        </p:nvSpPr>
        <p:spPr>
          <a:xfrm>
            <a:off x="9226296" y="2423160"/>
            <a:ext cx="2423160" cy="731520"/>
          </a:xfrm>
          <a:prstGeom prst="rect">
            <a:avLst/>
          </a:prstGeom>
          <a:noFill/>
          <a:ln/>
        </p:spPr>
        <p:txBody>
          <a:bodyPr wrap="square" rtlCol="0" anchor="ctr"/>
          <a:lstStyle/>
          <a:p>
            <a:pPr algn="ctr" indent="0" marL="0">
              <a:buNone/>
            </a:pPr>
            <a:r>
              <a:rPr lang="en-US" sz="1150" dirty="0">
                <a:solidFill>
                  <a:srgbClr val="3A3F5C"/>
                </a:solidFill>
                <a:latin typeface="Calibri" pitchFamily="34" charset="0"/>
                <a:ea typeface="Calibri" pitchFamily="34" charset="-122"/>
                <a:cs typeface="Calibri" pitchFamily="34" charset="-120"/>
              </a:rPr>
              <a:t>models trained &amp; SHAP-explained</a:t>
            </a:r>
            <a:endParaRPr lang="en-US" sz="1150" dirty="0"/>
          </a:p>
          <a:p>
            <a:pPr algn="ctr" indent="0" marL="0">
              <a:buNone/>
            </a:pPr>
            <a:r>
              <a:rPr lang="en-US" sz="1150" dirty="0">
                <a:solidFill>
                  <a:srgbClr val="3A3F5C"/>
                </a:solidFill>
                <a:latin typeface="Calibri" pitchFamily="34" charset="0"/>
                <a:ea typeface="Calibri" pitchFamily="34" charset="-122"/>
                <a:cs typeface="Calibri" pitchFamily="34" charset="-120"/>
              </a:rPr>
              <a:t>(3 algorithms x 2 transforms x 3 segments)</a:t>
            </a:r>
            <a:endParaRPr lang="en-US" sz="1150" dirty="0"/>
          </a:p>
        </p:txBody>
      </p:sp>
      <p:sp>
        <p:nvSpPr>
          <p:cNvPr id="16" name="Text 14"/>
          <p:cNvSpPr txBox="1"/>
          <p:nvPr/>
        </p:nvSpPr>
        <p:spPr>
          <a:xfrm>
            <a:off x="548640" y="3657600"/>
            <a:ext cx="11064240" cy="1737360"/>
          </a:xfrm>
          <a:prstGeom prst="rect">
            <a:avLst/>
          </a:prstGeom>
          <a:noFill/>
          <a:ln/>
        </p:spPr>
        <p:txBody>
          <a:bodyPr wrap="square" rtlCol="0" anchor="t"/>
          <a:lstStyle/>
          <a:p>
            <a:pPr indent="0" marL="0">
              <a:lnSpc>
                <a:spcPct val="125000"/>
              </a:lnSpc>
              <a:buNone/>
            </a:pPr>
            <a:r>
              <a:rPr lang="en-US" sz="1500" dirty="0">
                <a:solidFill>
                  <a:srgbClr val="1B1F30"/>
                </a:solidFill>
                <a:latin typeface="Calibri" pitchFamily="34" charset="0"/>
                <a:ea typeface="Calibri" pitchFamily="34" charset="-122"/>
                <a:cs typeface="Calibri" pitchFamily="34" charset="-120"/>
              </a:rPr>
              <a:t>The best model (XGBoost, raw target) explains 94.7% of cost variance overall and 94.9% for the Turvo segment. </a:t>
            </a:r>
            <a:pPr indent="0" marL="0">
              <a:lnSpc>
                <a:spcPct val="125000"/>
              </a:lnSpc>
              <a:buNone/>
            </a:pPr>
            <a:r>
              <a:rPr lang="en-US" sz="1500" dirty="0">
                <a:solidFill>
                  <a:srgbClr val="1B1F30"/>
                </a:solidFill>
                <a:latin typeface="Calibri" pitchFamily="34" charset="0"/>
                <a:ea typeface="Calibri" pitchFamily="34" charset="-122"/>
                <a:cs typeface="Calibri" pitchFamily="34" charset="-120"/>
              </a:rPr>
              <a:t>Historical lane cost and physical distance are the strongest, most consistent drivers of cost across correlation, Boruta and SHAP analysis. </a:t>
            </a:r>
            <a:pPr indent="0" marL="0">
              <a:lnSpc>
                <a:spcPct val="125000"/>
              </a:lnSpc>
              <a:buNone/>
            </a:pPr>
            <a:r>
              <a:rPr lang="en-US" sz="1500" dirty="0">
                <a:solidFill>
                  <a:srgbClr val="1B1F30"/>
                </a:solidFill>
                <a:latin typeface="Calibri" pitchFamily="34" charset="0"/>
                <a:ea typeface="Calibri" pitchFamily="34" charset="-122"/>
                <a:cs typeface="Calibri" pitchFamily="34" charset="-120"/>
              </a:rPr>
              <a:t>A key data-quality finding — the entire Magnus segment is lost under simple missing-value deletion — was solved with a dedicated imputation pipeline.</a:t>
            </a:r>
            <a:endParaRPr lang="en-US" sz="1500" dirty="0"/>
          </a:p>
        </p:txBody>
      </p:sp>
      <p:sp>
        <p:nvSpPr>
          <p:cNvPr id="17" name="Text 15"/>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Data Overview</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One raw file, two carrier-sourcing segments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595360" cy="914400"/>
        </p:xfrm>
        <a:graphic>
          <a:graphicData uri="http://schemas.openxmlformats.org/drawingml/2006/table">
            <a:tbl>
              <a:tblPr/>
              <a:tblGrid>
                <a:gridCol w="2926080"/>
                <a:gridCol w="566928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Attribute</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r>
              <a:tr h="50292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Source file</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Veltris-Vehicle.xlsx (single sheet 'result')</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0292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Raw rows / columns</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305,838 rows x 145 columns</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0292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Target variable</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TotalCost (USD)</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0292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Segments (SourceName)</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Turvo: 287,860 rows (94.1%)   |   Magnus: 17,978 rows (5.9%)</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0292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Feature domains present</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Distance, Equipment, Fuel Price, Historical Lane Cost, Market</a:t>
                      </a:r>
                      <a:endParaRPr lang="en-US" sz="1300" dirty="0">
                        <a:latin typeface="Calibri" charset="0"/>
                        <a:ea typeface="Calibri" charset="0"/>
                        <a:cs typeface="Calibri" charset="0"/>
                      </a:endParaRPr>
                    </a:p>
                    <a:p>
                      <a:pPr indent="0" marL="0">
                        <a:buNone/>
                      </a:pPr>
                      <a:r>
                        <a:rPr lang="en-US" sz="1300" dirty="0">
                          <a:solidFill>
                            <a:srgbClr val="000000"/>
                          </a:solidFill>
                          <a:latin typeface="Calibri" pitchFamily="34" charset="0"/>
                          <a:ea typeface="Calibri" pitchFamily="34" charset="-122"/>
                          <a:cs typeface="Calibri" pitchFamily="34" charset="-120"/>
                        </a:rPr>
                        <a:t>Conditions, Seasonality, Carrier, Customer</a:t>
                      </a:r>
                      <a:endParaRPr lang="en-US" sz="13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bl>
          </a:graphicData>
        </a:graphic>
      </p:graphicFrame>
      <p:sp>
        <p:nvSpPr>
          <p:cNvPr id="5" name="Shape 2"/>
          <p:cNvSpPr/>
          <p:nvPr/>
        </p:nvSpPr>
        <p:spPr>
          <a:xfrm>
            <a:off x="9372600" y="1554480"/>
            <a:ext cx="2286000" cy="3657600"/>
          </a:xfrm>
          <a:prstGeom prst="roundRect">
            <a:avLst>
              <a:gd name="adj" fmla="val 3200"/>
            </a:avLst>
          </a:prstGeom>
          <a:solidFill>
            <a:srgbClr val="F3F5FC"/>
          </a:solidFill>
          <a:ln w="12700">
            <a:solidFill>
              <a:srgbClr val="CADCFC"/>
            </a:solidFill>
            <a:prstDash val="solid"/>
          </a:ln>
        </p:spPr>
      </p:sp>
      <p:sp>
        <p:nvSpPr>
          <p:cNvPr id="6" name="Text 3"/>
          <p:cNvSpPr txBox="1"/>
          <p:nvPr/>
        </p:nvSpPr>
        <p:spPr>
          <a:xfrm>
            <a:off x="9372600" y="1828800"/>
            <a:ext cx="2286000" cy="64008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94.1%</a:t>
            </a:r>
            <a:endParaRPr lang="en-US" sz="2600" dirty="0"/>
          </a:p>
        </p:txBody>
      </p:sp>
      <p:sp>
        <p:nvSpPr>
          <p:cNvPr id="7" name="Text 4"/>
          <p:cNvSpPr txBox="1"/>
          <p:nvPr/>
        </p:nvSpPr>
        <p:spPr>
          <a:xfrm>
            <a:off x="9464040" y="2423160"/>
            <a:ext cx="2103120" cy="548640"/>
          </a:xfrm>
          <a:prstGeom prst="rect">
            <a:avLst/>
          </a:prstGeom>
          <a:noFill/>
          <a:ln/>
        </p:spPr>
        <p:txBody>
          <a:bodyPr wrap="square" rtlCol="0" anchor="ctr"/>
          <a:lstStyle/>
          <a:p>
            <a:pPr algn="ctr" indent="0" marL="0">
              <a:buNone/>
            </a:pPr>
            <a:r>
              <a:rPr lang="en-US" sz="1100" dirty="0">
                <a:solidFill>
                  <a:srgbClr val="3A3F5C"/>
                </a:solidFill>
              </a:rPr>
              <a:t>Turvo share</a:t>
            </a:r>
            <a:endParaRPr lang="en-US" sz="1100" dirty="0"/>
          </a:p>
          <a:p>
            <a:pPr algn="ctr" indent="0" marL="0">
              <a:buNone/>
            </a:pPr>
            <a:r>
              <a:rPr lang="en-US" sz="1100" dirty="0">
                <a:solidFill>
                  <a:srgbClr val="3A3F5C"/>
                </a:solidFill>
              </a:rPr>
              <a:t>of shipments</a:t>
            </a:r>
            <a:endParaRPr lang="en-US" sz="1100" dirty="0"/>
          </a:p>
        </p:txBody>
      </p:sp>
      <p:sp>
        <p:nvSpPr>
          <p:cNvPr id="8" name="Text 5"/>
          <p:cNvSpPr txBox="1"/>
          <p:nvPr/>
        </p:nvSpPr>
        <p:spPr>
          <a:xfrm>
            <a:off x="9372600" y="3200400"/>
            <a:ext cx="2286000" cy="64008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5.9%</a:t>
            </a:r>
            <a:endParaRPr lang="en-US" sz="2600" dirty="0"/>
          </a:p>
        </p:txBody>
      </p:sp>
      <p:sp>
        <p:nvSpPr>
          <p:cNvPr id="9" name="Text 6"/>
          <p:cNvSpPr txBox="1"/>
          <p:nvPr/>
        </p:nvSpPr>
        <p:spPr>
          <a:xfrm>
            <a:off x="9464040" y="3794760"/>
            <a:ext cx="2103120" cy="548640"/>
          </a:xfrm>
          <a:prstGeom prst="rect">
            <a:avLst/>
          </a:prstGeom>
          <a:noFill/>
          <a:ln/>
        </p:spPr>
        <p:txBody>
          <a:bodyPr wrap="square" rtlCol="0" anchor="ctr"/>
          <a:lstStyle/>
          <a:p>
            <a:pPr algn="ctr" indent="0" marL="0">
              <a:buNone/>
            </a:pPr>
            <a:r>
              <a:rPr lang="en-US" sz="1100" dirty="0">
                <a:solidFill>
                  <a:srgbClr val="3A3F5C"/>
                </a:solidFill>
              </a:rPr>
              <a:t>Magnus share</a:t>
            </a:r>
            <a:endParaRPr lang="en-US" sz="1100" dirty="0"/>
          </a:p>
          <a:p>
            <a:pPr algn="ctr" indent="0" marL="0">
              <a:buNone/>
            </a:pPr>
            <a:r>
              <a:rPr lang="en-US" sz="1100" dirty="0">
                <a:solidFill>
                  <a:srgbClr val="3A3F5C"/>
                </a:solidFill>
              </a:rPr>
              <a:t>of shipments</a:t>
            </a:r>
            <a:endParaRPr lang="en-US" sz="1100" dirty="0"/>
          </a:p>
        </p:txBody>
      </p:sp>
      <p:sp>
        <p:nvSpPr>
          <p:cNvPr id="10" name="Text 7"/>
          <p:cNvSpPr txBox="1"/>
          <p:nvPr/>
        </p:nvSpPr>
        <p:spPr>
          <a:xfrm>
            <a:off x="9372600" y="4572000"/>
            <a:ext cx="2286000" cy="64008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145</a:t>
            </a:r>
            <a:endParaRPr lang="en-US" sz="2600" dirty="0"/>
          </a:p>
        </p:txBody>
      </p:sp>
      <p:sp>
        <p:nvSpPr>
          <p:cNvPr id="11" name="Text 8"/>
          <p:cNvSpPr txBox="1"/>
          <p:nvPr/>
        </p:nvSpPr>
        <p:spPr>
          <a:xfrm>
            <a:off x="9464040" y="5166360"/>
            <a:ext cx="2103120" cy="548640"/>
          </a:xfrm>
          <a:prstGeom prst="rect">
            <a:avLst/>
          </a:prstGeom>
          <a:noFill/>
          <a:ln/>
        </p:spPr>
        <p:txBody>
          <a:bodyPr wrap="square" rtlCol="0" anchor="ctr"/>
          <a:lstStyle/>
          <a:p>
            <a:pPr algn="ctr" indent="0" marL="0">
              <a:buNone/>
            </a:pPr>
            <a:r>
              <a:rPr lang="en-US" sz="1100" dirty="0">
                <a:solidFill>
                  <a:srgbClr val="3A3F5C"/>
                </a:solidFill>
              </a:rPr>
              <a:t>raw attributes</a:t>
            </a:r>
            <a:endParaRPr lang="en-US" sz="1100" dirty="0"/>
          </a:p>
          <a:p>
            <a:pPr algn="ctr" indent="0" marL="0">
              <a:buNone/>
            </a:pPr>
            <a:r>
              <a:rPr lang="en-US" sz="1100" dirty="0">
                <a:solidFill>
                  <a:srgbClr val="3A3F5C"/>
                </a:solidFill>
              </a:rPr>
              <a:t>per shipment</a:t>
            </a:r>
            <a:endParaRPr lang="en-US" sz="1100" dirty="0"/>
          </a:p>
        </p:txBody>
      </p:sp>
      <p:sp>
        <p:nvSpPr>
          <p:cNvPr id="12" name="Text 9"/>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Data Preprocessing Pipeline</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305,838 → 147,621 clean rows (Turvo); Magnus handled separately (see slide 9)</a:t>
            </a:r>
            <a:endParaRPr lang="en-US" sz="1400" dirty="0"/>
          </a:p>
        </p:txBody>
      </p:sp>
      <p:sp>
        <p:nvSpPr>
          <p:cNvPr id="4" name="Shape 2"/>
          <p:cNvSpPr/>
          <p:nvPr/>
        </p:nvSpPr>
        <p:spPr>
          <a:xfrm>
            <a:off x="457200" y="1600200"/>
            <a:ext cx="2697480" cy="2286000"/>
          </a:xfrm>
          <a:prstGeom prst="roundRect">
            <a:avLst>
              <a:gd name="adj" fmla="val 3200"/>
            </a:avLst>
          </a:prstGeom>
          <a:solidFill>
            <a:srgbClr val="F3F5FC"/>
          </a:solidFill>
          <a:ln w="12700">
            <a:solidFill>
              <a:srgbClr val="CADCFC"/>
            </a:solidFill>
            <a:prstDash val="solid"/>
          </a:ln>
        </p:spPr>
      </p:sp>
      <p:sp>
        <p:nvSpPr>
          <p:cNvPr id="5" name="Text 3"/>
          <p:cNvSpPr txBox="1"/>
          <p:nvPr/>
        </p:nvSpPr>
        <p:spPr>
          <a:xfrm>
            <a:off x="594360" y="1737360"/>
            <a:ext cx="242316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1. Drop unusable columns</a:t>
            </a:r>
            <a:endParaRPr lang="en-US" sz="1450" dirty="0"/>
          </a:p>
        </p:txBody>
      </p:sp>
      <p:sp>
        <p:nvSpPr>
          <p:cNvPr id="6" name="Text 4"/>
          <p:cNvSpPr txBox="1"/>
          <p:nvPr/>
        </p:nvSpPr>
        <p:spPr>
          <a:xfrm>
            <a:off x="594360" y="2331720"/>
            <a:ext cx="2423160" cy="1463040"/>
          </a:xfrm>
          <a:prstGeom prst="rect">
            <a:avLst/>
          </a:prstGeom>
          <a:noFill/>
          <a:ln/>
        </p:spPr>
        <p:txBody>
          <a:bodyPr wrap="square" rtlCol="0" anchor="t"/>
          <a:lstStyle/>
          <a:p>
            <a:pPr indent="0" marL="0">
              <a:buNone/>
            </a:pPr>
            <a:r>
              <a:rPr lang="en-US" sz="1150" dirty="0">
                <a:solidFill>
                  <a:srgbClr val="1B1F30"/>
                </a:solidFill>
                <a:latin typeface="Calibri" pitchFamily="34" charset="0"/>
                <a:ea typeface="Calibri" pitchFamily="34" charset="-122"/>
                <a:cs typeface="Calibri" pitchFamily="34" charset="-120"/>
              </a:rPr>
              <a:t>18 columns removed: &gt;50% missing, target leakage,</a:t>
            </a:r>
            <a:endParaRPr lang="en-US" sz="1150" dirty="0"/>
          </a:p>
          <a:p>
            <a:pPr indent="0" marL="0">
              <a:buNone/>
            </a:pPr>
            <a:r>
              <a:rPr lang="en-US" sz="1150" dirty="0">
                <a:solidFill>
                  <a:srgbClr val="1B1F30"/>
                </a:solidFill>
                <a:latin typeface="Calibri" pitchFamily="34" charset="0"/>
                <a:ea typeface="Calibri" pitchFamily="34" charset="-122"/>
                <a:cs typeface="Calibri" pitchFamily="34" charset="-120"/>
              </a:rPr>
              <a:t>high-cardinality IDs, redundant raw dates</a:t>
            </a:r>
            <a:endParaRPr lang="en-US" sz="1150" dirty="0"/>
          </a:p>
        </p:txBody>
      </p:sp>
      <p:sp>
        <p:nvSpPr>
          <p:cNvPr id="7" name="Text 5"/>
          <p:cNvSpPr txBox="1"/>
          <p:nvPr/>
        </p:nvSpPr>
        <p:spPr>
          <a:xfrm>
            <a:off x="3108960" y="2468880"/>
            <a:ext cx="274320" cy="457200"/>
          </a:xfrm>
          <a:prstGeom prst="rect">
            <a:avLst/>
          </a:prstGeom>
          <a:noFill/>
          <a:ln/>
        </p:spPr>
        <p:txBody>
          <a:bodyPr wrap="square" rtlCol="0" anchor="ctr"/>
          <a:lstStyle/>
          <a:p>
            <a:pPr algn="ctr" indent="0" marL="0">
              <a:buNone/>
            </a:pPr>
            <a:r>
              <a:rPr lang="en-US" sz="2000" b="1" dirty="0">
                <a:solidFill>
                  <a:srgbClr val="D6A419"/>
                </a:solidFill>
              </a:rPr>
              <a:t>→</a:t>
            </a:r>
            <a:endParaRPr lang="en-US" sz="2000" dirty="0"/>
          </a:p>
        </p:txBody>
      </p:sp>
      <p:sp>
        <p:nvSpPr>
          <p:cNvPr id="8" name="Shape 6"/>
          <p:cNvSpPr/>
          <p:nvPr/>
        </p:nvSpPr>
        <p:spPr>
          <a:xfrm>
            <a:off x="3291840" y="1600200"/>
            <a:ext cx="2697480" cy="2286000"/>
          </a:xfrm>
          <a:prstGeom prst="roundRect">
            <a:avLst>
              <a:gd name="adj" fmla="val 3200"/>
            </a:avLst>
          </a:prstGeom>
          <a:solidFill>
            <a:srgbClr val="EAEFFA"/>
          </a:solidFill>
          <a:ln w="12700">
            <a:solidFill>
              <a:srgbClr val="CADCFC"/>
            </a:solidFill>
            <a:prstDash val="solid"/>
          </a:ln>
        </p:spPr>
      </p:sp>
      <p:sp>
        <p:nvSpPr>
          <p:cNvPr id="9" name="Text 7"/>
          <p:cNvSpPr txBox="1"/>
          <p:nvPr/>
        </p:nvSpPr>
        <p:spPr>
          <a:xfrm>
            <a:off x="3429000" y="1737360"/>
            <a:ext cx="242316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2. Remove duplicates</a:t>
            </a:r>
            <a:endParaRPr lang="en-US" sz="1450" dirty="0"/>
          </a:p>
        </p:txBody>
      </p:sp>
      <p:sp>
        <p:nvSpPr>
          <p:cNvPr id="10" name="Text 8"/>
          <p:cNvSpPr txBox="1"/>
          <p:nvPr/>
        </p:nvSpPr>
        <p:spPr>
          <a:xfrm>
            <a:off x="3429000" y="2331720"/>
            <a:ext cx="2423160" cy="1463040"/>
          </a:xfrm>
          <a:prstGeom prst="rect">
            <a:avLst/>
          </a:prstGeom>
          <a:noFill/>
          <a:ln/>
        </p:spPr>
        <p:txBody>
          <a:bodyPr wrap="square" rtlCol="0" anchor="t"/>
          <a:lstStyle/>
          <a:p>
            <a:pPr indent="0" marL="0">
              <a:buNone/>
            </a:pPr>
            <a:r>
              <a:rPr lang="en-US" sz="1150" dirty="0">
                <a:solidFill>
                  <a:srgbClr val="1B1F30"/>
                </a:solidFill>
                <a:latin typeface="Calibri" pitchFamily="34" charset="0"/>
                <a:ea typeface="Calibri" pitchFamily="34" charset="-122"/>
                <a:cs typeface="Calibri" pitchFamily="34" charset="-120"/>
              </a:rPr>
              <a:t>115 exact-duplicate rows removed</a:t>
            </a:r>
            <a:endParaRPr lang="en-US" sz="1150" dirty="0"/>
          </a:p>
        </p:txBody>
      </p:sp>
      <p:sp>
        <p:nvSpPr>
          <p:cNvPr id="11" name="Text 9"/>
          <p:cNvSpPr txBox="1"/>
          <p:nvPr/>
        </p:nvSpPr>
        <p:spPr>
          <a:xfrm>
            <a:off x="5943600" y="2468880"/>
            <a:ext cx="274320" cy="457200"/>
          </a:xfrm>
          <a:prstGeom prst="rect">
            <a:avLst/>
          </a:prstGeom>
          <a:noFill/>
          <a:ln/>
        </p:spPr>
        <p:txBody>
          <a:bodyPr wrap="square" rtlCol="0" anchor="ctr"/>
          <a:lstStyle/>
          <a:p>
            <a:pPr algn="ctr" indent="0" marL="0">
              <a:buNone/>
            </a:pPr>
            <a:r>
              <a:rPr lang="en-US" sz="2000" b="1" dirty="0">
                <a:solidFill>
                  <a:srgbClr val="D6A419"/>
                </a:solidFill>
              </a:rPr>
              <a:t>→</a:t>
            </a:r>
            <a:endParaRPr lang="en-US" sz="2000" dirty="0"/>
          </a:p>
        </p:txBody>
      </p:sp>
      <p:sp>
        <p:nvSpPr>
          <p:cNvPr id="12" name="Shape 10"/>
          <p:cNvSpPr/>
          <p:nvPr/>
        </p:nvSpPr>
        <p:spPr>
          <a:xfrm>
            <a:off x="6126480" y="1600200"/>
            <a:ext cx="2697480" cy="2286000"/>
          </a:xfrm>
          <a:prstGeom prst="roundRect">
            <a:avLst>
              <a:gd name="adj" fmla="val 3200"/>
            </a:avLst>
          </a:prstGeom>
          <a:solidFill>
            <a:srgbClr val="F3F5FC"/>
          </a:solidFill>
          <a:ln w="12700">
            <a:solidFill>
              <a:srgbClr val="CADCFC"/>
            </a:solidFill>
            <a:prstDash val="solid"/>
          </a:ln>
        </p:spPr>
      </p:sp>
      <p:sp>
        <p:nvSpPr>
          <p:cNvPr id="13" name="Text 11"/>
          <p:cNvSpPr txBox="1"/>
          <p:nvPr/>
        </p:nvSpPr>
        <p:spPr>
          <a:xfrm>
            <a:off x="6263640" y="1737360"/>
            <a:ext cx="242316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3. Remove missing rows</a:t>
            </a:r>
            <a:endParaRPr lang="en-US" sz="1450" dirty="0"/>
          </a:p>
        </p:txBody>
      </p:sp>
      <p:sp>
        <p:nvSpPr>
          <p:cNvPr id="14" name="Text 12"/>
          <p:cNvSpPr txBox="1"/>
          <p:nvPr/>
        </p:nvSpPr>
        <p:spPr>
          <a:xfrm>
            <a:off x="6263640" y="2331720"/>
            <a:ext cx="2423160" cy="1463040"/>
          </a:xfrm>
          <a:prstGeom prst="rect">
            <a:avLst/>
          </a:prstGeom>
          <a:noFill/>
          <a:ln/>
        </p:spPr>
        <p:txBody>
          <a:bodyPr wrap="square" rtlCol="0" anchor="t"/>
          <a:lstStyle/>
          <a:p>
            <a:pPr indent="0" marL="0">
              <a:buNone/>
            </a:pPr>
            <a:r>
              <a:rPr lang="en-US" sz="1150" dirty="0">
                <a:solidFill>
                  <a:srgbClr val="1B1F30"/>
                </a:solidFill>
                <a:latin typeface="Calibri" pitchFamily="34" charset="0"/>
                <a:ea typeface="Calibri" pitchFamily="34" charset="-122"/>
                <a:cs typeface="Calibri" pitchFamily="34" charset="-120"/>
              </a:rPr>
              <a:t>133,030 rows (43.5%) dropped for missing values</a:t>
            </a:r>
            <a:endParaRPr lang="en-US" sz="1150" dirty="0"/>
          </a:p>
          <a:p>
            <a:pPr indent="0" marL="0">
              <a:buNone/>
            </a:pPr>
            <a:r>
              <a:rPr lang="en-US" sz="1150" dirty="0">
                <a:solidFill>
                  <a:srgbClr val="1B1F30"/>
                </a:solidFill>
                <a:latin typeface="Calibri" pitchFamily="34" charset="0"/>
                <a:ea typeface="Calibri" pitchFamily="34" charset="-122"/>
                <a:cs typeface="Calibri" pitchFamily="34" charset="-120"/>
              </a:rPr>
              <a:t>in the retained columns</a:t>
            </a:r>
            <a:endParaRPr lang="en-US" sz="1150" dirty="0"/>
          </a:p>
        </p:txBody>
      </p:sp>
      <p:sp>
        <p:nvSpPr>
          <p:cNvPr id="15" name="Text 13"/>
          <p:cNvSpPr txBox="1"/>
          <p:nvPr/>
        </p:nvSpPr>
        <p:spPr>
          <a:xfrm>
            <a:off x="8778240" y="2468880"/>
            <a:ext cx="274320" cy="457200"/>
          </a:xfrm>
          <a:prstGeom prst="rect">
            <a:avLst/>
          </a:prstGeom>
          <a:noFill/>
          <a:ln/>
        </p:spPr>
        <p:txBody>
          <a:bodyPr wrap="square" rtlCol="0" anchor="ctr"/>
          <a:lstStyle/>
          <a:p>
            <a:pPr algn="ctr" indent="0" marL="0">
              <a:buNone/>
            </a:pPr>
            <a:r>
              <a:rPr lang="en-US" sz="2000" b="1" dirty="0">
                <a:solidFill>
                  <a:srgbClr val="D6A419"/>
                </a:solidFill>
              </a:rPr>
              <a:t>→</a:t>
            </a:r>
            <a:endParaRPr lang="en-US" sz="2000" dirty="0"/>
          </a:p>
        </p:txBody>
      </p:sp>
      <p:sp>
        <p:nvSpPr>
          <p:cNvPr id="16" name="Shape 14"/>
          <p:cNvSpPr/>
          <p:nvPr/>
        </p:nvSpPr>
        <p:spPr>
          <a:xfrm>
            <a:off x="8961120" y="1600200"/>
            <a:ext cx="2697480" cy="2286000"/>
          </a:xfrm>
          <a:prstGeom prst="roundRect">
            <a:avLst>
              <a:gd name="adj" fmla="val 3200"/>
            </a:avLst>
          </a:prstGeom>
          <a:solidFill>
            <a:srgbClr val="EAEFFA"/>
          </a:solidFill>
          <a:ln w="12700">
            <a:solidFill>
              <a:srgbClr val="CADCFC"/>
            </a:solidFill>
            <a:prstDash val="solid"/>
          </a:ln>
        </p:spPr>
      </p:sp>
      <p:sp>
        <p:nvSpPr>
          <p:cNvPr id="17" name="Text 15"/>
          <p:cNvSpPr txBox="1"/>
          <p:nvPr/>
        </p:nvSpPr>
        <p:spPr>
          <a:xfrm>
            <a:off x="9098280" y="1737360"/>
            <a:ext cx="242316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4. Remove outliers</a:t>
            </a:r>
            <a:endParaRPr lang="en-US" sz="1450" dirty="0"/>
          </a:p>
        </p:txBody>
      </p:sp>
      <p:sp>
        <p:nvSpPr>
          <p:cNvPr id="18" name="Text 16"/>
          <p:cNvSpPr txBox="1"/>
          <p:nvPr/>
        </p:nvSpPr>
        <p:spPr>
          <a:xfrm>
            <a:off x="9098280" y="2331720"/>
            <a:ext cx="2423160" cy="1463040"/>
          </a:xfrm>
          <a:prstGeom prst="rect">
            <a:avLst/>
          </a:prstGeom>
          <a:noFill/>
          <a:ln/>
        </p:spPr>
        <p:txBody>
          <a:bodyPr wrap="square" rtlCol="0" anchor="t"/>
          <a:lstStyle/>
          <a:p>
            <a:pPr indent="0" marL="0">
              <a:buNone/>
            </a:pPr>
            <a:r>
              <a:rPr lang="en-US" sz="1150" dirty="0">
                <a:solidFill>
                  <a:srgbClr val="1B1F30"/>
                </a:solidFill>
                <a:latin typeface="Calibri" pitchFamily="34" charset="0"/>
                <a:ea typeface="Calibri" pitchFamily="34" charset="-122"/>
                <a:cs typeface="Calibri" pitchFamily="34" charset="-120"/>
              </a:rPr>
              <a:t>25,072 rows (14.5%) removed via 1.5x IQR rule on</a:t>
            </a:r>
            <a:endParaRPr lang="en-US" sz="1150" dirty="0"/>
          </a:p>
          <a:p>
            <a:pPr indent="0" marL="0">
              <a:buNone/>
            </a:pPr>
            <a:r>
              <a:rPr lang="en-US" sz="1150" dirty="0">
                <a:solidFill>
                  <a:srgbClr val="1B1F30"/>
                </a:solidFill>
                <a:latin typeface="Calibri" pitchFamily="34" charset="0"/>
                <a:ea typeface="Calibri" pitchFamily="34" charset="-122"/>
                <a:cs typeface="Calibri" pitchFamily="34" charset="-120"/>
              </a:rPr>
              <a:t>TotalCost, TotalMiles, TotalWeight, HaversineMiles</a:t>
            </a:r>
            <a:endParaRPr lang="en-US" sz="1150" dirty="0"/>
          </a:p>
        </p:txBody>
      </p:sp>
      <p:sp>
        <p:nvSpPr>
          <p:cNvPr id="19" name="Text 17"/>
          <p:cNvSpPr txBox="1"/>
          <p:nvPr/>
        </p:nvSpPr>
        <p:spPr>
          <a:xfrm>
            <a:off x="457200" y="4206240"/>
            <a:ext cx="11247120" cy="457200"/>
          </a:xfrm>
          <a:prstGeom prst="rect">
            <a:avLst/>
          </a:prstGeom>
          <a:noFill/>
          <a:ln/>
        </p:spPr>
        <p:txBody>
          <a:bodyPr wrap="square" rtlCol="0" anchor="ctr"/>
          <a:lstStyle/>
          <a:p>
            <a:pPr indent="0" marL="0">
              <a:buNone/>
            </a:pPr>
            <a:r>
              <a:rPr lang="en-US" sz="1500" i="1" dirty="0">
                <a:solidFill>
                  <a:srgbClr val="3A3F5C"/>
                </a:solidFill>
                <a:latin typeface="Calibri" pitchFamily="34" charset="0"/>
                <a:ea typeface="Calibri" pitchFamily="34" charset="-122"/>
                <a:cs typeface="Calibri" pitchFamily="34" charset="-120"/>
              </a:rPr>
              <a:t>Result: 147,621 rows x 127 columns (fully-observed, outlier-trimmed Turvo dataset)</a:t>
            </a:r>
            <a:endParaRPr lang="en-US" sz="1500" dirty="0"/>
          </a:p>
        </p:txBody>
      </p:sp>
      <p:pic>
        <p:nvPicPr>
          <p:cNvPr id="20" name="Image 0" descr="/home/claude/proj/artifacts/figures/01_target_distribution_before_after.png">    </p:cNvPr>
          <p:cNvPicPr>
            <a:picLocks noChangeAspect="1"/>
          </p:cNvPicPr>
          <p:nvPr/>
        </p:nvPicPr>
        <p:blipFill>
          <a:blip r:embed="rId1"/>
          <a:stretch>
            <a:fillRect/>
          </a:stretch>
        </p:blipFill>
        <p:spPr>
          <a:xfrm>
            <a:off x="822960" y="4709160"/>
            <a:ext cx="10332720" cy="1783080"/>
          </a:xfrm>
          <a:prstGeom prst="rect">
            <a:avLst/>
          </a:prstGeom>
        </p:spPr>
      </p:pic>
      <p:sp>
        <p:nvSpPr>
          <p:cNvPr id="21" name="Text 18"/>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Multicollinearity Reduction &amp; Feature Selection</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VIF (statistical redundancy) + Boruta (all-relevant importance)</a:t>
            </a:r>
            <a:endParaRPr lang="en-US" sz="1400" dirty="0"/>
          </a:p>
        </p:txBody>
      </p:sp>
      <p:sp>
        <p:nvSpPr>
          <p:cNvPr id="4" name="Shape 2"/>
          <p:cNvSpPr/>
          <p:nvPr/>
        </p:nvSpPr>
        <p:spPr>
          <a:xfrm>
            <a:off x="457200" y="1600200"/>
            <a:ext cx="5394960" cy="4480560"/>
          </a:xfrm>
          <a:prstGeom prst="roundRect">
            <a:avLst>
              <a:gd name="adj" fmla="val 1633"/>
            </a:avLst>
          </a:prstGeom>
          <a:solidFill>
            <a:srgbClr val="F3F5FC"/>
          </a:solidFill>
          <a:ln w="12700">
            <a:solidFill>
              <a:srgbClr val="CADCFC"/>
            </a:solidFill>
            <a:prstDash val="solid"/>
          </a:ln>
        </p:spPr>
      </p:sp>
      <p:sp>
        <p:nvSpPr>
          <p:cNvPr id="5" name="Text 3"/>
          <p:cNvSpPr txBox="1"/>
          <p:nvPr/>
        </p:nvSpPr>
        <p:spPr>
          <a:xfrm>
            <a:off x="685800" y="1783080"/>
            <a:ext cx="4937760" cy="45720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Step 1 — VIF elimination</a:t>
            </a:r>
            <a:endParaRPr lang="en-US" sz="1800" dirty="0"/>
          </a:p>
        </p:txBody>
      </p:sp>
      <p:sp>
        <p:nvSpPr>
          <p:cNvPr id="6" name="Text 4"/>
          <p:cNvSpPr txBox="1"/>
          <p:nvPr/>
        </p:nvSpPr>
        <p:spPr>
          <a:xfrm>
            <a:off x="777240" y="2331720"/>
            <a:ext cx="4754880" cy="3566160"/>
          </a:xfrm>
          <a:prstGeom prst="rect">
            <a:avLst/>
          </a:prstGeom>
          <a:noFill/>
          <a:ln/>
        </p:spPr>
        <p:txBody>
          <a:bodyPr wrap="square" rtlCol="0" anchor="t"/>
          <a:lstStyle/>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120 numeric candidates (12 zero-variance columns dropped first)</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Iteratively remove the highest-VIF feature until all VIF &lt; 10</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42 features removed — including TotalMiles itself (near-perfect collinearity with HaversineMiles)</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66 numeric features survive</a:t>
            </a:r>
            <a:endParaRPr lang="en-US" sz="1350" dirty="0"/>
          </a:p>
        </p:txBody>
      </p:sp>
      <p:sp>
        <p:nvSpPr>
          <p:cNvPr id="7" name="Shape 5"/>
          <p:cNvSpPr/>
          <p:nvPr/>
        </p:nvSpPr>
        <p:spPr>
          <a:xfrm>
            <a:off x="6035040" y="1600200"/>
            <a:ext cx="5394960" cy="4480560"/>
          </a:xfrm>
          <a:prstGeom prst="roundRect">
            <a:avLst>
              <a:gd name="adj" fmla="val 1633"/>
            </a:avLst>
          </a:prstGeom>
          <a:solidFill>
            <a:srgbClr val="F3F5FC"/>
          </a:solidFill>
          <a:ln w="12700">
            <a:solidFill>
              <a:srgbClr val="CADCFC"/>
            </a:solidFill>
            <a:prstDash val="solid"/>
          </a:ln>
        </p:spPr>
      </p:sp>
      <p:sp>
        <p:nvSpPr>
          <p:cNvPr id="8" name="Text 6"/>
          <p:cNvSpPr txBox="1"/>
          <p:nvPr/>
        </p:nvSpPr>
        <p:spPr>
          <a:xfrm>
            <a:off x="6263640" y="1783080"/>
            <a:ext cx="4937760" cy="45720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Step 2 — Boruta selection</a:t>
            </a:r>
            <a:endParaRPr lang="en-US" sz="1800" dirty="0"/>
          </a:p>
        </p:txBody>
      </p:sp>
      <p:sp>
        <p:nvSpPr>
          <p:cNvPr id="9" name="Text 7"/>
          <p:cNvSpPr txBox="1"/>
          <p:nvPr/>
        </p:nvSpPr>
        <p:spPr>
          <a:xfrm>
            <a:off x="6355080" y="2331720"/>
            <a:ext cx="4754880" cy="3566160"/>
          </a:xfrm>
          <a:prstGeom prst="rect">
            <a:avLst/>
          </a:prstGeom>
          <a:noFill/>
          <a:ln/>
        </p:spPr>
        <p:txBody>
          <a:bodyPr wrap="square" rtlCol="0" anchor="t"/>
          <a:lstStyle/>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Random-Forest shadow-feature test on the 66 VIF survivors + 5 categorical features (71 candidates)</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15 features Confirmed, 9 Tentative (kept), 47 Rejected as noise</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Final reduced feature count: 24 — all numeric</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83% reduction from the original 145 raw columns</a:t>
            </a:r>
            <a:endParaRPr lang="en-US" sz="1350" dirty="0"/>
          </a:p>
        </p:txBody>
      </p:sp>
      <p:sp>
        <p:nvSpPr>
          <p:cNvPr id="10" name="Text 8"/>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Feature Groups</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Every selected feature mapped to one of 8 business-meaningful groups</a:t>
            </a:r>
            <a:endParaRPr lang="en-US" sz="1400" dirty="0"/>
          </a:p>
        </p:txBody>
      </p:sp>
      <p:sp>
        <p:nvSpPr>
          <p:cNvPr id="4" name="Shape 2"/>
          <p:cNvSpPr/>
          <p:nvPr/>
        </p:nvSpPr>
        <p:spPr>
          <a:xfrm>
            <a:off x="457200" y="1600200"/>
            <a:ext cx="2697480" cy="1417320"/>
          </a:xfrm>
          <a:prstGeom prst="roundRect">
            <a:avLst>
              <a:gd name="adj" fmla="val 5161"/>
            </a:avLst>
          </a:prstGeom>
          <a:solidFill>
            <a:srgbClr val="EAEFFA"/>
          </a:solidFill>
          <a:ln w="12700">
            <a:solidFill>
              <a:srgbClr val="CADCFC"/>
            </a:solidFill>
            <a:prstDash val="solid"/>
          </a:ln>
        </p:spPr>
      </p:sp>
      <p:sp>
        <p:nvSpPr>
          <p:cNvPr id="5" name="Text 3"/>
          <p:cNvSpPr txBox="1"/>
          <p:nvPr/>
        </p:nvSpPr>
        <p:spPr>
          <a:xfrm>
            <a:off x="594360" y="1691640"/>
            <a:ext cx="24231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Distance</a:t>
            </a:r>
            <a:endParaRPr lang="en-US" sz="1400" dirty="0"/>
          </a:p>
        </p:txBody>
      </p:sp>
      <p:sp>
        <p:nvSpPr>
          <p:cNvPr id="6" name="Text 4"/>
          <p:cNvSpPr txBox="1"/>
          <p:nvPr/>
        </p:nvSpPr>
        <p:spPr>
          <a:xfrm>
            <a:off x="594360" y="2039112"/>
            <a:ext cx="2423160" cy="292608"/>
          </a:xfrm>
          <a:prstGeom prst="rect">
            <a:avLst/>
          </a:prstGeom>
          <a:noFill/>
          <a:ln/>
        </p:spPr>
        <p:txBody>
          <a:bodyPr wrap="square" rtlCol="0" anchor="ctr"/>
          <a:lstStyle/>
          <a:p>
            <a:pPr indent="0" marL="0">
              <a:buNone/>
            </a:pPr>
            <a:r>
              <a:rPr lang="en-US" sz="1200" b="1" dirty="0">
                <a:solidFill>
                  <a:srgbClr val="D6A419"/>
                </a:solidFill>
                <a:latin typeface="Calibri" pitchFamily="34" charset="0"/>
                <a:ea typeface="Calibri" pitchFamily="34" charset="-122"/>
                <a:cs typeface="Calibri" pitchFamily="34" charset="-120"/>
              </a:rPr>
              <a:t>5 features</a:t>
            </a:r>
            <a:endParaRPr lang="en-US" sz="1200" dirty="0"/>
          </a:p>
        </p:txBody>
      </p:sp>
      <p:sp>
        <p:nvSpPr>
          <p:cNvPr id="7" name="Text 5"/>
          <p:cNvSpPr txBox="1"/>
          <p:nvPr/>
        </p:nvSpPr>
        <p:spPr>
          <a:xfrm>
            <a:off x="594360" y="2377440"/>
            <a:ext cx="2423160" cy="548640"/>
          </a:xfrm>
          <a:prstGeom prst="rect">
            <a:avLst/>
          </a:prstGeom>
          <a:noFill/>
          <a:ln/>
        </p:spPr>
        <p:txBody>
          <a:bodyPr wrap="square" rtlCol="0" anchor="ctr"/>
          <a:lstStyle/>
          <a:p>
            <a:pPr indent="0" marL="0">
              <a:buNone/>
            </a:pPr>
            <a:r>
              <a:rPr lang="en-US" sz="1050" dirty="0">
                <a:solidFill>
                  <a:srgbClr val="1B1F30"/>
                </a:solidFill>
                <a:latin typeface="Calibri" pitchFamily="34" charset="0"/>
                <a:ea typeface="Calibri" pitchFamily="34" charset="-122"/>
                <a:cs typeface="Calibri" pitchFamily="34" charset="-120"/>
              </a:rPr>
              <a:t>Physical geography of the move</a:t>
            </a:r>
            <a:endParaRPr lang="en-US" sz="1050" dirty="0"/>
          </a:p>
        </p:txBody>
      </p:sp>
      <p:sp>
        <p:nvSpPr>
          <p:cNvPr id="8" name="Shape 6"/>
          <p:cNvSpPr/>
          <p:nvPr/>
        </p:nvSpPr>
        <p:spPr>
          <a:xfrm>
            <a:off x="3291840" y="1600200"/>
            <a:ext cx="2697480" cy="1417320"/>
          </a:xfrm>
          <a:prstGeom prst="roundRect">
            <a:avLst>
              <a:gd name="adj" fmla="val 5161"/>
            </a:avLst>
          </a:prstGeom>
          <a:solidFill>
            <a:srgbClr val="EAEFFA"/>
          </a:solidFill>
          <a:ln w="12700">
            <a:solidFill>
              <a:srgbClr val="CADCFC"/>
            </a:solidFill>
            <a:prstDash val="solid"/>
          </a:ln>
        </p:spPr>
      </p:sp>
      <p:sp>
        <p:nvSpPr>
          <p:cNvPr id="9" name="Text 7"/>
          <p:cNvSpPr txBox="1"/>
          <p:nvPr/>
        </p:nvSpPr>
        <p:spPr>
          <a:xfrm>
            <a:off x="3429000" y="1691640"/>
            <a:ext cx="24231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Historical Lane Cost</a:t>
            </a:r>
            <a:endParaRPr lang="en-US" sz="1400" dirty="0"/>
          </a:p>
        </p:txBody>
      </p:sp>
      <p:sp>
        <p:nvSpPr>
          <p:cNvPr id="10" name="Text 8"/>
          <p:cNvSpPr txBox="1"/>
          <p:nvPr/>
        </p:nvSpPr>
        <p:spPr>
          <a:xfrm>
            <a:off x="3429000" y="2039112"/>
            <a:ext cx="2423160" cy="292608"/>
          </a:xfrm>
          <a:prstGeom prst="rect">
            <a:avLst/>
          </a:prstGeom>
          <a:noFill/>
          <a:ln/>
        </p:spPr>
        <p:txBody>
          <a:bodyPr wrap="square" rtlCol="0" anchor="ctr"/>
          <a:lstStyle/>
          <a:p>
            <a:pPr indent="0" marL="0">
              <a:buNone/>
            </a:pPr>
            <a:r>
              <a:rPr lang="en-US" sz="1200" b="1" dirty="0">
                <a:solidFill>
                  <a:srgbClr val="D6A419"/>
                </a:solidFill>
                <a:latin typeface="Calibri" pitchFamily="34" charset="0"/>
                <a:ea typeface="Calibri" pitchFamily="34" charset="-122"/>
                <a:cs typeface="Calibri" pitchFamily="34" charset="-120"/>
              </a:rPr>
              <a:t>12 features</a:t>
            </a:r>
            <a:endParaRPr lang="en-US" sz="1200" dirty="0"/>
          </a:p>
        </p:txBody>
      </p:sp>
      <p:sp>
        <p:nvSpPr>
          <p:cNvPr id="11" name="Text 9"/>
          <p:cNvSpPr txBox="1"/>
          <p:nvPr/>
        </p:nvSpPr>
        <p:spPr>
          <a:xfrm>
            <a:off x="3429000" y="2377440"/>
            <a:ext cx="2423160" cy="548640"/>
          </a:xfrm>
          <a:prstGeom prst="rect">
            <a:avLst/>
          </a:prstGeom>
          <a:noFill/>
          <a:ln/>
        </p:spPr>
        <p:txBody>
          <a:bodyPr wrap="square" rtlCol="0" anchor="ctr"/>
          <a:lstStyle/>
          <a:p>
            <a:pPr indent="0" marL="0">
              <a:buNone/>
            </a:pPr>
            <a:r>
              <a:rPr lang="en-US" sz="1050" dirty="0">
                <a:solidFill>
                  <a:srgbClr val="1B1F30"/>
                </a:solidFill>
                <a:latin typeface="Calibri" pitchFamily="34" charset="0"/>
                <a:ea typeface="Calibri" pitchFamily="34" charset="-122"/>
                <a:cs typeface="Calibri" pitchFamily="34" charset="-120"/>
              </a:rPr>
              <a:t>What this lane has cost recently</a:t>
            </a:r>
            <a:endParaRPr lang="en-US" sz="1050" dirty="0"/>
          </a:p>
        </p:txBody>
      </p:sp>
      <p:sp>
        <p:nvSpPr>
          <p:cNvPr id="12" name="Shape 10"/>
          <p:cNvSpPr/>
          <p:nvPr/>
        </p:nvSpPr>
        <p:spPr>
          <a:xfrm>
            <a:off x="6126480" y="1600200"/>
            <a:ext cx="2697480" cy="1417320"/>
          </a:xfrm>
          <a:prstGeom prst="roundRect">
            <a:avLst>
              <a:gd name="adj" fmla="val 5161"/>
            </a:avLst>
          </a:prstGeom>
          <a:solidFill>
            <a:srgbClr val="EAEFFA"/>
          </a:solidFill>
          <a:ln w="12700">
            <a:solidFill>
              <a:srgbClr val="CADCFC"/>
            </a:solidFill>
            <a:prstDash val="solid"/>
          </a:ln>
        </p:spPr>
      </p:sp>
      <p:sp>
        <p:nvSpPr>
          <p:cNvPr id="13" name="Text 11"/>
          <p:cNvSpPr txBox="1"/>
          <p:nvPr/>
        </p:nvSpPr>
        <p:spPr>
          <a:xfrm>
            <a:off x="6263640" y="1691640"/>
            <a:ext cx="24231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Equipment</a:t>
            </a:r>
            <a:endParaRPr lang="en-US" sz="1400" dirty="0"/>
          </a:p>
        </p:txBody>
      </p:sp>
      <p:sp>
        <p:nvSpPr>
          <p:cNvPr id="14" name="Text 12"/>
          <p:cNvSpPr txBox="1"/>
          <p:nvPr/>
        </p:nvSpPr>
        <p:spPr>
          <a:xfrm>
            <a:off x="6263640" y="2039112"/>
            <a:ext cx="2423160" cy="292608"/>
          </a:xfrm>
          <a:prstGeom prst="rect">
            <a:avLst/>
          </a:prstGeom>
          <a:noFill/>
          <a:ln/>
        </p:spPr>
        <p:txBody>
          <a:bodyPr wrap="square" rtlCol="0" anchor="ctr"/>
          <a:lstStyle/>
          <a:p>
            <a:pPr indent="0" marL="0">
              <a:buNone/>
            </a:pPr>
            <a:r>
              <a:rPr lang="en-US" sz="1200" b="1" dirty="0">
                <a:solidFill>
                  <a:srgbClr val="D6A419"/>
                </a:solidFill>
                <a:latin typeface="Calibri" pitchFamily="34" charset="0"/>
                <a:ea typeface="Calibri" pitchFamily="34" charset="-122"/>
                <a:cs typeface="Calibri" pitchFamily="34" charset="-120"/>
              </a:rPr>
              <a:t>4 features</a:t>
            </a:r>
            <a:endParaRPr lang="en-US" sz="1200" dirty="0"/>
          </a:p>
        </p:txBody>
      </p:sp>
      <p:sp>
        <p:nvSpPr>
          <p:cNvPr id="15" name="Text 13"/>
          <p:cNvSpPr txBox="1"/>
          <p:nvPr/>
        </p:nvSpPr>
        <p:spPr>
          <a:xfrm>
            <a:off x="6263640" y="2377440"/>
            <a:ext cx="2423160" cy="548640"/>
          </a:xfrm>
          <a:prstGeom prst="rect">
            <a:avLst/>
          </a:prstGeom>
          <a:noFill/>
          <a:ln/>
        </p:spPr>
        <p:txBody>
          <a:bodyPr wrap="square" rtlCol="0" anchor="ctr"/>
          <a:lstStyle/>
          <a:p>
            <a:pPr indent="0" marL="0">
              <a:buNone/>
            </a:pPr>
            <a:r>
              <a:rPr lang="en-US" sz="1050" dirty="0">
                <a:solidFill>
                  <a:srgbClr val="1B1F30"/>
                </a:solidFill>
                <a:latin typeface="Calibri" pitchFamily="34" charset="0"/>
                <a:ea typeface="Calibri" pitchFamily="34" charset="-122"/>
                <a:cs typeface="Calibri" pitchFamily="34" charset="-120"/>
              </a:rPr>
              <a:t>Vehicle &amp; trailer specifications</a:t>
            </a:r>
            <a:endParaRPr lang="en-US" sz="1050" dirty="0"/>
          </a:p>
        </p:txBody>
      </p:sp>
      <p:sp>
        <p:nvSpPr>
          <p:cNvPr id="16" name="Shape 14"/>
          <p:cNvSpPr/>
          <p:nvPr/>
        </p:nvSpPr>
        <p:spPr>
          <a:xfrm>
            <a:off x="8961120" y="1600200"/>
            <a:ext cx="2697480" cy="1417320"/>
          </a:xfrm>
          <a:prstGeom prst="roundRect">
            <a:avLst>
              <a:gd name="adj" fmla="val 5161"/>
            </a:avLst>
          </a:prstGeom>
          <a:solidFill>
            <a:srgbClr val="EAEFFA"/>
          </a:solidFill>
          <a:ln w="12700">
            <a:solidFill>
              <a:srgbClr val="CADCFC"/>
            </a:solidFill>
            <a:prstDash val="solid"/>
          </a:ln>
        </p:spPr>
      </p:sp>
      <p:sp>
        <p:nvSpPr>
          <p:cNvPr id="17" name="Text 15"/>
          <p:cNvSpPr txBox="1"/>
          <p:nvPr/>
        </p:nvSpPr>
        <p:spPr>
          <a:xfrm>
            <a:off x="9098280" y="1691640"/>
            <a:ext cx="24231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Market Conditions</a:t>
            </a:r>
            <a:endParaRPr lang="en-US" sz="1400" dirty="0"/>
          </a:p>
        </p:txBody>
      </p:sp>
      <p:sp>
        <p:nvSpPr>
          <p:cNvPr id="18" name="Text 16"/>
          <p:cNvSpPr txBox="1"/>
          <p:nvPr/>
        </p:nvSpPr>
        <p:spPr>
          <a:xfrm>
            <a:off x="9098280" y="2039112"/>
            <a:ext cx="2423160" cy="292608"/>
          </a:xfrm>
          <a:prstGeom prst="rect">
            <a:avLst/>
          </a:prstGeom>
          <a:noFill/>
          <a:ln/>
        </p:spPr>
        <p:txBody>
          <a:bodyPr wrap="square" rtlCol="0" anchor="ctr"/>
          <a:lstStyle/>
          <a:p>
            <a:pPr indent="0" marL="0">
              <a:buNone/>
            </a:pPr>
            <a:r>
              <a:rPr lang="en-US" sz="1200" b="1" dirty="0">
                <a:solidFill>
                  <a:srgbClr val="D6A419"/>
                </a:solidFill>
                <a:latin typeface="Calibri" pitchFamily="34" charset="0"/>
                <a:ea typeface="Calibri" pitchFamily="34" charset="-122"/>
                <a:cs typeface="Calibri" pitchFamily="34" charset="-120"/>
              </a:rPr>
              <a:t>3 features</a:t>
            </a:r>
            <a:endParaRPr lang="en-US" sz="1200" dirty="0"/>
          </a:p>
        </p:txBody>
      </p:sp>
      <p:sp>
        <p:nvSpPr>
          <p:cNvPr id="19" name="Text 17"/>
          <p:cNvSpPr txBox="1"/>
          <p:nvPr/>
        </p:nvSpPr>
        <p:spPr>
          <a:xfrm>
            <a:off x="9098280" y="2377440"/>
            <a:ext cx="2423160" cy="548640"/>
          </a:xfrm>
          <a:prstGeom prst="rect">
            <a:avLst/>
          </a:prstGeom>
          <a:noFill/>
          <a:ln/>
        </p:spPr>
        <p:txBody>
          <a:bodyPr wrap="square" rtlCol="0" anchor="ctr"/>
          <a:lstStyle/>
          <a:p>
            <a:pPr indent="0" marL="0">
              <a:buNone/>
            </a:pPr>
            <a:r>
              <a:rPr lang="en-US" sz="1050" dirty="0">
                <a:solidFill>
                  <a:srgbClr val="1B1F30"/>
                </a:solidFill>
                <a:latin typeface="Calibri" pitchFamily="34" charset="0"/>
                <a:ea typeface="Calibri" pitchFamily="34" charset="-122"/>
                <a:cs typeface="Calibri" pitchFamily="34" charset="-120"/>
              </a:rPr>
              <a:t>Macro &amp; regional labor backdrop</a:t>
            </a:r>
            <a:endParaRPr lang="en-US" sz="1050" dirty="0"/>
          </a:p>
        </p:txBody>
      </p:sp>
      <p:sp>
        <p:nvSpPr>
          <p:cNvPr id="20" name="Shape 18"/>
          <p:cNvSpPr/>
          <p:nvPr/>
        </p:nvSpPr>
        <p:spPr>
          <a:xfrm>
            <a:off x="457200" y="3200400"/>
            <a:ext cx="2697480" cy="1417320"/>
          </a:xfrm>
          <a:prstGeom prst="roundRect">
            <a:avLst>
              <a:gd name="adj" fmla="val 5161"/>
            </a:avLst>
          </a:prstGeom>
          <a:solidFill>
            <a:srgbClr val="F3F3F5"/>
          </a:solidFill>
          <a:ln w="12700">
            <a:solidFill>
              <a:srgbClr val="E2E2E6"/>
            </a:solidFill>
            <a:prstDash val="solid"/>
          </a:ln>
        </p:spPr>
      </p:sp>
      <p:sp>
        <p:nvSpPr>
          <p:cNvPr id="21" name="Text 19"/>
          <p:cNvSpPr txBox="1"/>
          <p:nvPr/>
        </p:nvSpPr>
        <p:spPr>
          <a:xfrm>
            <a:off x="594360" y="3291840"/>
            <a:ext cx="2423160" cy="365760"/>
          </a:xfrm>
          <a:prstGeom prst="rect">
            <a:avLst/>
          </a:prstGeom>
          <a:noFill/>
          <a:ln/>
        </p:spPr>
        <p:txBody>
          <a:bodyPr wrap="square" rtlCol="0" anchor="ctr"/>
          <a:lstStyle/>
          <a:p>
            <a:pPr indent="0" marL="0">
              <a:buNone/>
            </a:pPr>
            <a:r>
              <a:rPr lang="en-US" sz="1400" b="1" dirty="0">
                <a:solidFill>
                  <a:srgbClr val="8A8A93"/>
                </a:solidFill>
                <a:latin typeface="Cambria" pitchFamily="34" charset="0"/>
                <a:ea typeface="Cambria" pitchFamily="34" charset="-122"/>
                <a:cs typeface="Cambria" pitchFamily="34" charset="-120"/>
              </a:rPr>
              <a:t>Fuel Price</a:t>
            </a:r>
            <a:endParaRPr lang="en-US" sz="1400" dirty="0"/>
          </a:p>
        </p:txBody>
      </p:sp>
      <p:sp>
        <p:nvSpPr>
          <p:cNvPr id="22" name="Text 20"/>
          <p:cNvSpPr txBox="1"/>
          <p:nvPr/>
        </p:nvSpPr>
        <p:spPr>
          <a:xfrm>
            <a:off x="594360" y="3639312"/>
            <a:ext cx="2423160" cy="292608"/>
          </a:xfrm>
          <a:prstGeom prst="rect">
            <a:avLst/>
          </a:prstGeom>
          <a:noFill/>
          <a:ln/>
        </p:spPr>
        <p:txBody>
          <a:bodyPr wrap="square" rtlCol="0" anchor="ctr"/>
          <a:lstStyle/>
          <a:p>
            <a:pPr indent="0" marL="0">
              <a:buNone/>
            </a:pPr>
            <a:r>
              <a:rPr lang="en-US" sz="1200" b="1" dirty="0">
                <a:solidFill>
                  <a:srgbClr val="8A8A93"/>
                </a:solidFill>
                <a:latin typeface="Calibri" pitchFamily="34" charset="0"/>
                <a:ea typeface="Calibri" pitchFamily="34" charset="-122"/>
                <a:cs typeface="Calibri" pitchFamily="34" charset="-120"/>
              </a:rPr>
              <a:t>0 selected*</a:t>
            </a:r>
            <a:endParaRPr lang="en-US" sz="1200" dirty="0"/>
          </a:p>
        </p:txBody>
      </p:sp>
      <p:sp>
        <p:nvSpPr>
          <p:cNvPr id="23" name="Text 21"/>
          <p:cNvSpPr txBox="1"/>
          <p:nvPr/>
        </p:nvSpPr>
        <p:spPr>
          <a:xfrm>
            <a:off x="594360" y="3977640"/>
            <a:ext cx="2423160" cy="548640"/>
          </a:xfrm>
          <a:prstGeom prst="rect">
            <a:avLst/>
          </a:prstGeom>
          <a:noFill/>
          <a:ln/>
        </p:spPr>
        <p:txBody>
          <a:bodyPr wrap="square" rtlCol="0" anchor="ctr"/>
          <a:lstStyle/>
          <a:p>
            <a:pPr indent="0" marL="0">
              <a:buNone/>
            </a:pPr>
            <a:r>
              <a:rPr lang="en-US" sz="1050" dirty="0">
                <a:solidFill>
                  <a:srgbClr val="9A9AA0"/>
                </a:solidFill>
                <a:latin typeface="Calibri" pitchFamily="34" charset="0"/>
                <a:ea typeface="Calibri" pitchFamily="34" charset="-122"/>
                <a:cs typeface="Calibri" pitchFamily="34" charset="-120"/>
              </a:rPr>
              <a:t>Gas/diesel pass-through cost</a:t>
            </a:r>
            <a:endParaRPr lang="en-US" sz="1050" dirty="0"/>
          </a:p>
        </p:txBody>
      </p:sp>
      <p:sp>
        <p:nvSpPr>
          <p:cNvPr id="24" name="Shape 22"/>
          <p:cNvSpPr/>
          <p:nvPr/>
        </p:nvSpPr>
        <p:spPr>
          <a:xfrm>
            <a:off x="3291840" y="3200400"/>
            <a:ext cx="2697480" cy="1417320"/>
          </a:xfrm>
          <a:prstGeom prst="roundRect">
            <a:avLst>
              <a:gd name="adj" fmla="val 5161"/>
            </a:avLst>
          </a:prstGeom>
          <a:solidFill>
            <a:srgbClr val="F3F3F5"/>
          </a:solidFill>
          <a:ln w="12700">
            <a:solidFill>
              <a:srgbClr val="E2E2E6"/>
            </a:solidFill>
            <a:prstDash val="solid"/>
          </a:ln>
        </p:spPr>
      </p:sp>
      <p:sp>
        <p:nvSpPr>
          <p:cNvPr id="25" name="Text 23"/>
          <p:cNvSpPr txBox="1"/>
          <p:nvPr/>
        </p:nvSpPr>
        <p:spPr>
          <a:xfrm>
            <a:off x="3429000" y="3291840"/>
            <a:ext cx="2423160" cy="365760"/>
          </a:xfrm>
          <a:prstGeom prst="rect">
            <a:avLst/>
          </a:prstGeom>
          <a:noFill/>
          <a:ln/>
        </p:spPr>
        <p:txBody>
          <a:bodyPr wrap="square" rtlCol="0" anchor="ctr"/>
          <a:lstStyle/>
          <a:p>
            <a:pPr indent="0" marL="0">
              <a:buNone/>
            </a:pPr>
            <a:r>
              <a:rPr lang="en-US" sz="1400" b="1" dirty="0">
                <a:solidFill>
                  <a:srgbClr val="8A8A93"/>
                </a:solidFill>
                <a:latin typeface="Cambria" pitchFamily="34" charset="0"/>
                <a:ea typeface="Cambria" pitchFamily="34" charset="-122"/>
                <a:cs typeface="Cambria" pitchFamily="34" charset="-120"/>
              </a:rPr>
              <a:t>Seasonality</a:t>
            </a:r>
            <a:endParaRPr lang="en-US" sz="1400" dirty="0"/>
          </a:p>
        </p:txBody>
      </p:sp>
      <p:sp>
        <p:nvSpPr>
          <p:cNvPr id="26" name="Text 24"/>
          <p:cNvSpPr txBox="1"/>
          <p:nvPr/>
        </p:nvSpPr>
        <p:spPr>
          <a:xfrm>
            <a:off x="3429000" y="3639312"/>
            <a:ext cx="2423160" cy="292608"/>
          </a:xfrm>
          <a:prstGeom prst="rect">
            <a:avLst/>
          </a:prstGeom>
          <a:noFill/>
          <a:ln/>
        </p:spPr>
        <p:txBody>
          <a:bodyPr wrap="square" rtlCol="0" anchor="ctr"/>
          <a:lstStyle/>
          <a:p>
            <a:pPr indent="0" marL="0">
              <a:buNone/>
            </a:pPr>
            <a:r>
              <a:rPr lang="en-US" sz="1200" b="1" dirty="0">
                <a:solidFill>
                  <a:srgbClr val="8A8A93"/>
                </a:solidFill>
                <a:latin typeface="Calibri" pitchFamily="34" charset="0"/>
                <a:ea typeface="Calibri" pitchFamily="34" charset="-122"/>
                <a:cs typeface="Calibri" pitchFamily="34" charset="-120"/>
              </a:rPr>
              <a:t>0 selected*</a:t>
            </a:r>
            <a:endParaRPr lang="en-US" sz="1200" dirty="0"/>
          </a:p>
        </p:txBody>
      </p:sp>
      <p:sp>
        <p:nvSpPr>
          <p:cNvPr id="27" name="Text 25"/>
          <p:cNvSpPr txBox="1"/>
          <p:nvPr/>
        </p:nvSpPr>
        <p:spPr>
          <a:xfrm>
            <a:off x="3429000" y="3977640"/>
            <a:ext cx="2423160" cy="548640"/>
          </a:xfrm>
          <a:prstGeom prst="rect">
            <a:avLst/>
          </a:prstGeom>
          <a:noFill/>
          <a:ln/>
        </p:spPr>
        <p:txBody>
          <a:bodyPr wrap="square" rtlCol="0" anchor="ctr"/>
          <a:lstStyle/>
          <a:p>
            <a:pPr indent="0" marL="0">
              <a:buNone/>
            </a:pPr>
            <a:r>
              <a:rPr lang="en-US" sz="1050" dirty="0">
                <a:solidFill>
                  <a:srgbClr val="9A9AA0"/>
                </a:solidFill>
                <a:latin typeface="Calibri" pitchFamily="34" charset="0"/>
                <a:ea typeface="Calibri" pitchFamily="34" charset="-122"/>
                <a:cs typeface="Calibri" pitchFamily="34" charset="-120"/>
              </a:rPr>
              <a:t>Calendar &amp; demand-cycle effects</a:t>
            </a:r>
            <a:endParaRPr lang="en-US" sz="1050" dirty="0"/>
          </a:p>
        </p:txBody>
      </p:sp>
      <p:sp>
        <p:nvSpPr>
          <p:cNvPr id="28" name="Shape 26"/>
          <p:cNvSpPr/>
          <p:nvPr/>
        </p:nvSpPr>
        <p:spPr>
          <a:xfrm>
            <a:off x="6126480" y="3200400"/>
            <a:ext cx="2697480" cy="1417320"/>
          </a:xfrm>
          <a:prstGeom prst="roundRect">
            <a:avLst>
              <a:gd name="adj" fmla="val 5161"/>
            </a:avLst>
          </a:prstGeom>
          <a:solidFill>
            <a:srgbClr val="F3F3F5"/>
          </a:solidFill>
          <a:ln w="12700">
            <a:solidFill>
              <a:srgbClr val="E2E2E6"/>
            </a:solidFill>
            <a:prstDash val="solid"/>
          </a:ln>
        </p:spPr>
      </p:sp>
      <p:sp>
        <p:nvSpPr>
          <p:cNvPr id="29" name="Text 27"/>
          <p:cNvSpPr txBox="1"/>
          <p:nvPr/>
        </p:nvSpPr>
        <p:spPr>
          <a:xfrm>
            <a:off x="6263640" y="3291840"/>
            <a:ext cx="2423160" cy="365760"/>
          </a:xfrm>
          <a:prstGeom prst="rect">
            <a:avLst/>
          </a:prstGeom>
          <a:noFill/>
          <a:ln/>
        </p:spPr>
        <p:txBody>
          <a:bodyPr wrap="square" rtlCol="0" anchor="ctr"/>
          <a:lstStyle/>
          <a:p>
            <a:pPr indent="0" marL="0">
              <a:buNone/>
            </a:pPr>
            <a:r>
              <a:rPr lang="en-US" sz="1400" b="1" dirty="0">
                <a:solidFill>
                  <a:srgbClr val="8A8A93"/>
                </a:solidFill>
                <a:latin typeface="Cambria" pitchFamily="34" charset="0"/>
                <a:ea typeface="Cambria" pitchFamily="34" charset="-122"/>
                <a:cs typeface="Cambria" pitchFamily="34" charset="-120"/>
              </a:rPr>
              <a:t>Carrier</a:t>
            </a:r>
            <a:endParaRPr lang="en-US" sz="1400" dirty="0"/>
          </a:p>
        </p:txBody>
      </p:sp>
      <p:sp>
        <p:nvSpPr>
          <p:cNvPr id="30" name="Text 28"/>
          <p:cNvSpPr txBox="1"/>
          <p:nvPr/>
        </p:nvSpPr>
        <p:spPr>
          <a:xfrm>
            <a:off x="6263640" y="3639312"/>
            <a:ext cx="2423160" cy="292608"/>
          </a:xfrm>
          <a:prstGeom prst="rect">
            <a:avLst/>
          </a:prstGeom>
          <a:noFill/>
          <a:ln/>
        </p:spPr>
        <p:txBody>
          <a:bodyPr wrap="square" rtlCol="0" anchor="ctr"/>
          <a:lstStyle/>
          <a:p>
            <a:pPr indent="0" marL="0">
              <a:buNone/>
            </a:pPr>
            <a:r>
              <a:rPr lang="en-US" sz="1200" b="1" dirty="0">
                <a:solidFill>
                  <a:srgbClr val="8A8A93"/>
                </a:solidFill>
                <a:latin typeface="Calibri" pitchFamily="34" charset="0"/>
                <a:ea typeface="Calibri" pitchFamily="34" charset="-122"/>
                <a:cs typeface="Calibri" pitchFamily="34" charset="-120"/>
              </a:rPr>
              <a:t>0 selected*</a:t>
            </a:r>
            <a:endParaRPr lang="en-US" sz="1200" dirty="0"/>
          </a:p>
        </p:txBody>
      </p:sp>
      <p:sp>
        <p:nvSpPr>
          <p:cNvPr id="31" name="Text 29"/>
          <p:cNvSpPr txBox="1"/>
          <p:nvPr/>
        </p:nvSpPr>
        <p:spPr>
          <a:xfrm>
            <a:off x="6263640" y="3977640"/>
            <a:ext cx="2423160" cy="548640"/>
          </a:xfrm>
          <a:prstGeom prst="rect">
            <a:avLst/>
          </a:prstGeom>
          <a:noFill/>
          <a:ln/>
        </p:spPr>
        <p:txBody>
          <a:bodyPr wrap="square" rtlCol="0" anchor="ctr"/>
          <a:lstStyle/>
          <a:p>
            <a:pPr indent="0" marL="0">
              <a:buNone/>
            </a:pPr>
            <a:r>
              <a:rPr lang="en-US" sz="1050" dirty="0">
                <a:solidFill>
                  <a:srgbClr val="9A9AA0"/>
                </a:solidFill>
                <a:latin typeface="Calibri" pitchFamily="34" charset="0"/>
                <a:ea typeface="Calibri" pitchFamily="34" charset="-122"/>
                <a:cs typeface="Calibri" pitchFamily="34" charset="-120"/>
              </a:rPr>
              <a:t>Sourcing channel &amp; operational flags</a:t>
            </a:r>
            <a:endParaRPr lang="en-US" sz="1050" dirty="0"/>
          </a:p>
        </p:txBody>
      </p:sp>
      <p:sp>
        <p:nvSpPr>
          <p:cNvPr id="32" name="Shape 30"/>
          <p:cNvSpPr/>
          <p:nvPr/>
        </p:nvSpPr>
        <p:spPr>
          <a:xfrm>
            <a:off x="8961120" y="3200400"/>
            <a:ext cx="2697480" cy="1417320"/>
          </a:xfrm>
          <a:prstGeom prst="roundRect">
            <a:avLst>
              <a:gd name="adj" fmla="val 5161"/>
            </a:avLst>
          </a:prstGeom>
          <a:solidFill>
            <a:srgbClr val="F3F3F5"/>
          </a:solidFill>
          <a:ln w="12700">
            <a:solidFill>
              <a:srgbClr val="E2E2E6"/>
            </a:solidFill>
            <a:prstDash val="solid"/>
          </a:ln>
        </p:spPr>
      </p:sp>
      <p:sp>
        <p:nvSpPr>
          <p:cNvPr id="33" name="Text 31"/>
          <p:cNvSpPr txBox="1"/>
          <p:nvPr/>
        </p:nvSpPr>
        <p:spPr>
          <a:xfrm>
            <a:off x="9098280" y="3291840"/>
            <a:ext cx="2423160" cy="365760"/>
          </a:xfrm>
          <a:prstGeom prst="rect">
            <a:avLst/>
          </a:prstGeom>
          <a:noFill/>
          <a:ln/>
        </p:spPr>
        <p:txBody>
          <a:bodyPr wrap="square" rtlCol="0" anchor="ctr"/>
          <a:lstStyle/>
          <a:p>
            <a:pPr indent="0" marL="0">
              <a:buNone/>
            </a:pPr>
            <a:r>
              <a:rPr lang="en-US" sz="1400" b="1" dirty="0">
                <a:solidFill>
                  <a:srgbClr val="8A8A93"/>
                </a:solidFill>
                <a:latin typeface="Cambria" pitchFamily="34" charset="0"/>
                <a:ea typeface="Cambria" pitchFamily="34" charset="-122"/>
                <a:cs typeface="Cambria" pitchFamily="34" charset="-120"/>
              </a:rPr>
              <a:t>Customer</a:t>
            </a:r>
            <a:endParaRPr lang="en-US" sz="1400" dirty="0"/>
          </a:p>
        </p:txBody>
      </p:sp>
      <p:sp>
        <p:nvSpPr>
          <p:cNvPr id="34" name="Text 32"/>
          <p:cNvSpPr txBox="1"/>
          <p:nvPr/>
        </p:nvSpPr>
        <p:spPr>
          <a:xfrm>
            <a:off x="9098280" y="3639312"/>
            <a:ext cx="2423160" cy="292608"/>
          </a:xfrm>
          <a:prstGeom prst="rect">
            <a:avLst/>
          </a:prstGeom>
          <a:noFill/>
          <a:ln/>
        </p:spPr>
        <p:txBody>
          <a:bodyPr wrap="square" rtlCol="0" anchor="ctr"/>
          <a:lstStyle/>
          <a:p>
            <a:pPr indent="0" marL="0">
              <a:buNone/>
            </a:pPr>
            <a:r>
              <a:rPr lang="en-US" sz="1200" b="1" dirty="0">
                <a:solidFill>
                  <a:srgbClr val="8A8A93"/>
                </a:solidFill>
                <a:latin typeface="Calibri" pitchFamily="34" charset="0"/>
                <a:ea typeface="Calibri" pitchFamily="34" charset="-122"/>
                <a:cs typeface="Calibri" pitchFamily="34" charset="-120"/>
              </a:rPr>
              <a:t>0 selected*</a:t>
            </a:r>
            <a:endParaRPr lang="en-US" sz="1200" dirty="0"/>
          </a:p>
        </p:txBody>
      </p:sp>
      <p:sp>
        <p:nvSpPr>
          <p:cNvPr id="35" name="Text 33"/>
          <p:cNvSpPr txBox="1"/>
          <p:nvPr/>
        </p:nvSpPr>
        <p:spPr>
          <a:xfrm>
            <a:off x="9098280" y="3977640"/>
            <a:ext cx="2423160" cy="548640"/>
          </a:xfrm>
          <a:prstGeom prst="rect">
            <a:avLst/>
          </a:prstGeom>
          <a:noFill/>
          <a:ln/>
        </p:spPr>
        <p:txBody>
          <a:bodyPr wrap="square" rtlCol="0" anchor="ctr"/>
          <a:lstStyle/>
          <a:p>
            <a:pPr indent="0" marL="0">
              <a:buNone/>
            </a:pPr>
            <a:r>
              <a:rPr lang="en-US" sz="1050" dirty="0">
                <a:solidFill>
                  <a:srgbClr val="9A9AA0"/>
                </a:solidFill>
                <a:latin typeface="Calibri" pitchFamily="34" charset="0"/>
                <a:ea typeface="Calibri" pitchFamily="34" charset="-122"/>
                <a:cs typeface="Calibri" pitchFamily="34" charset="-120"/>
              </a:rPr>
              <a:t>Origin/destination geography (categorical)</a:t>
            </a:r>
            <a:endParaRPr lang="en-US" sz="1050" dirty="0"/>
          </a:p>
        </p:txBody>
      </p:sp>
      <p:sp>
        <p:nvSpPr>
          <p:cNvPr id="36" name="Text 34"/>
          <p:cNvSpPr txBox="1"/>
          <p:nvPr/>
        </p:nvSpPr>
        <p:spPr>
          <a:xfrm>
            <a:off x="457200" y="5257800"/>
            <a:ext cx="11247120" cy="502920"/>
          </a:xfrm>
          <a:prstGeom prst="rect">
            <a:avLst/>
          </a:prstGeom>
          <a:noFill/>
          <a:ln/>
        </p:spPr>
        <p:txBody>
          <a:bodyPr wrap="square" rtlCol="0" anchor="ctr"/>
          <a:lstStyle/>
          <a:p>
            <a:pPr indent="0" marL="0">
              <a:buNone/>
            </a:pPr>
            <a:r>
              <a:rPr lang="en-US" sz="1100" i="1" dirty="0">
                <a:solidFill>
                  <a:srgbClr val="3A3F5C"/>
                </a:solidFill>
                <a:latin typeface="Calibri" pitchFamily="34" charset="0"/>
                <a:ea typeface="Calibri" pitchFamily="34" charset="-122"/>
                <a:cs typeface="Calibri" pitchFamily="34" charset="-120"/>
              </a:rPr>
              <a:t>*Not selected by Boruta on this dataset in isolation, once Distance &amp; Historical Lane Cost are known — still reported in the full EDA and available for future iterations.</a:t>
            </a:r>
            <a:endParaRPr lang="en-US" sz="1100" dirty="0"/>
          </a:p>
        </p:txBody>
      </p:sp>
      <p:sp>
        <p:nvSpPr>
          <p:cNvPr id="37" name="Text 35"/>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EDA: What Drives Shipment Cost</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Correlation of each selected feature with TotalCost, by feature group</a:t>
            </a:r>
            <a:endParaRPr lang="en-US" sz="1400" dirty="0"/>
          </a:p>
        </p:txBody>
      </p:sp>
      <p:pic>
        <p:nvPicPr>
          <p:cNvPr id="4" name="Image 0" descr="/home/claude/proj/artifacts/figures/03_feature_target_correlation_by_group.png">    </p:cNvPr>
          <p:cNvPicPr>
            <a:picLocks noChangeAspect="1"/>
          </p:cNvPicPr>
          <p:nvPr/>
        </p:nvPicPr>
        <p:blipFill>
          <a:blip r:embed="rId1"/>
          <a:stretch>
            <a:fillRect/>
          </a:stretch>
        </p:blipFill>
        <p:spPr>
          <a:xfrm>
            <a:off x="2331720" y="1417320"/>
            <a:ext cx="7498080" cy="5074920"/>
          </a:xfrm>
          <a:prstGeom prst="rect">
            <a:avLst/>
          </a:prstGeom>
        </p:spPr>
      </p:pic>
      <p:sp>
        <p:nvSpPr>
          <p:cNvPr id="5" name="Text 2"/>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EDA: Top Feature Relationships</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Distance and lane-history features show the clearest relationship with cost</a:t>
            </a:r>
            <a:endParaRPr lang="en-US" sz="1400" dirty="0"/>
          </a:p>
        </p:txBody>
      </p:sp>
      <p:pic>
        <p:nvPicPr>
          <p:cNvPr id="4" name="Image 0" descr="/home/claude/proj/artifacts/figures/05_distance_lanecost_relationships.png">    </p:cNvPr>
          <p:cNvPicPr>
            <a:picLocks noChangeAspect="1"/>
          </p:cNvPicPr>
          <p:nvPr/>
        </p:nvPicPr>
        <p:blipFill>
          <a:blip r:embed="rId1"/>
          <a:stretch>
            <a:fillRect/>
          </a:stretch>
        </p:blipFill>
        <p:spPr>
          <a:xfrm>
            <a:off x="548640" y="1554480"/>
            <a:ext cx="11064240" cy="4114800"/>
          </a:xfrm>
          <a:prstGeom prst="rect">
            <a:avLst/>
          </a:prstGeom>
        </p:spPr>
      </p:pic>
      <p:sp>
        <p:nvSpPr>
          <p:cNvPr id="5" name="Text 2"/>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Magnus Imputation Problem</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A data-quality finding that required a dedicated segment pipeline</a:t>
            </a:r>
            <a:endParaRPr lang="en-US" sz="1400" dirty="0"/>
          </a:p>
        </p:txBody>
      </p:sp>
      <p:sp>
        <p:nvSpPr>
          <p:cNvPr id="4" name="Shape 2"/>
          <p:cNvSpPr/>
          <p:nvPr/>
        </p:nvSpPr>
        <p:spPr>
          <a:xfrm>
            <a:off x="457200" y="1554480"/>
            <a:ext cx="5760720" cy="4480560"/>
          </a:xfrm>
          <a:prstGeom prst="roundRect">
            <a:avLst>
              <a:gd name="adj" fmla="val 1633"/>
            </a:avLst>
          </a:prstGeom>
          <a:solidFill>
            <a:srgbClr val="FBF2E3"/>
          </a:solidFill>
          <a:ln w="12700">
            <a:solidFill>
              <a:srgbClr val="EAD9AE"/>
            </a:solidFill>
            <a:prstDash val="solid"/>
          </a:ln>
        </p:spPr>
      </p:sp>
      <p:sp>
        <p:nvSpPr>
          <p:cNvPr id="5" name="Text 3"/>
          <p:cNvSpPr txBox="1"/>
          <p:nvPr/>
        </p:nvSpPr>
        <p:spPr>
          <a:xfrm>
            <a:off x="685800" y="1737360"/>
            <a:ext cx="5303520" cy="457200"/>
          </a:xfrm>
          <a:prstGeom prst="rect">
            <a:avLst/>
          </a:prstGeom>
          <a:noFill/>
          <a:ln/>
        </p:spPr>
        <p:txBody>
          <a:bodyPr wrap="square" rtlCol="0" anchor="ctr"/>
          <a:lstStyle/>
          <a:p>
            <a:pPr indent="0" marL="0">
              <a:buNone/>
            </a:pPr>
            <a:r>
              <a:rPr lang="en-US" sz="1700" b="1" dirty="0">
                <a:solidFill>
                  <a:srgbClr val="8A5A00"/>
                </a:solidFill>
                <a:latin typeface="Cambria" pitchFamily="34" charset="0"/>
                <a:ea typeface="Cambria" pitchFamily="34" charset="-122"/>
                <a:cs typeface="Cambria" pitchFamily="34" charset="-120"/>
              </a:rPr>
              <a:t>⚠  Finding</a:t>
            </a:r>
            <a:endParaRPr lang="en-US" sz="1700" dirty="0"/>
          </a:p>
        </p:txBody>
      </p:sp>
      <p:sp>
        <p:nvSpPr>
          <p:cNvPr id="6" name="Text 4"/>
          <p:cNvSpPr txBox="1"/>
          <p:nvPr/>
        </p:nvSpPr>
        <p:spPr>
          <a:xfrm>
            <a:off x="777240" y="2286000"/>
            <a:ext cx="5212080" cy="1828800"/>
          </a:xfrm>
          <a:prstGeom prst="rect">
            <a:avLst/>
          </a:prstGeom>
          <a:noFill/>
          <a:ln/>
        </p:spPr>
        <p:txBody>
          <a:bodyPr wrap="square" rtlCol="0" anchor="t"/>
          <a:lstStyle/>
          <a:p>
            <a:pPr indent="0" marL="0">
              <a:buNone/>
            </a:pPr>
            <a:r>
              <a:rPr lang="en-US" sz="1400" dirty="0">
                <a:solidFill>
                  <a:srgbClr val="1B1F30"/>
                </a:solidFill>
                <a:latin typeface="Calibri" pitchFamily="34" charset="0"/>
                <a:ea typeface="Calibri" pitchFamily="34" charset="-122"/>
                <a:cs typeface="Calibri" pitchFamily="34" charset="-120"/>
              </a:rPr>
              <a:t>Standard listwise deletion of missing values removes 100% of the Magnus segment. EquipmentType and Enclosed are never populated for Magnus shipments (100% missing), and several historical lane-cost fields are 17–34% missing specifically for Magnus.</a:t>
            </a:r>
            <a:endParaRPr lang="en-US" sz="1400" dirty="0"/>
          </a:p>
        </p:txBody>
      </p:sp>
      <p:sp>
        <p:nvSpPr>
          <p:cNvPr id="7" name="Text 5"/>
          <p:cNvSpPr txBox="1"/>
          <p:nvPr/>
        </p:nvSpPr>
        <p:spPr>
          <a:xfrm>
            <a:off x="685800" y="4160520"/>
            <a:ext cx="530352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  Solution</a:t>
            </a:r>
            <a:endParaRPr lang="en-US" sz="1700" dirty="0"/>
          </a:p>
        </p:txBody>
      </p:sp>
      <p:sp>
        <p:nvSpPr>
          <p:cNvPr id="8" name="Text 6"/>
          <p:cNvSpPr txBox="1"/>
          <p:nvPr/>
        </p:nvSpPr>
        <p:spPr>
          <a:xfrm>
            <a:off x="777240" y="4709160"/>
            <a:ext cx="5212080" cy="1188720"/>
          </a:xfrm>
          <a:prstGeom prst="rect">
            <a:avLst/>
          </a:prstGeom>
          <a:noFill/>
          <a:ln/>
        </p:spPr>
        <p:txBody>
          <a:bodyPr wrap="square" rtlCol="0" anchor="t"/>
          <a:lstStyle/>
          <a:p>
            <a:pPr indent="0" marL="0">
              <a:buNone/>
            </a:pPr>
            <a:r>
              <a:rPr lang="en-US" sz="1300" dirty="0">
                <a:solidFill>
                  <a:srgbClr val="1B1F30"/>
                </a:solidFill>
                <a:latin typeface="Calibri" pitchFamily="34" charset="0"/>
                <a:ea typeface="Calibri" pitchFamily="34" charset="-122"/>
                <a:cs typeface="Calibri" pitchFamily="34" charset="-120"/>
              </a:rPr>
              <a:t>A dedicated Magnus pipeline applies the same cleaning logic but IMPUTES missing values (median for numeric, mode for categorical, fit on Magnus's own distribution) instead of dropping rows. 13 of 24 selected features required imputation.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92240" y="1737360"/>
          <a:ext cx="5212080" cy="914400"/>
        </p:xfrm>
        <a:graphic>
          <a:graphicData uri="http://schemas.openxmlformats.org/drawingml/2006/table">
            <a:tbl>
              <a:tblPr/>
              <a:tblGrid>
                <a:gridCol w="1554480"/>
                <a:gridCol w="1188720"/>
                <a:gridCol w="2468880"/>
              </a:tblGrid>
              <a:tr h="5943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Notes</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r>
              <a:tr h="59436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Turvo</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147,621</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Fully observed; no imputation needed</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9436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Magnus</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14,203</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13 of 24 features imputed</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59436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Overall</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161,824</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Turvo + Magnus + segment indicator</a:t>
                      </a:r>
                      <a:endParaRPr lang="en-US" sz="125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bl>
          </a:graphicData>
        </a:graphic>
      </p:graphicFrame>
      <p:sp>
        <p:nvSpPr>
          <p:cNvPr id="10" name="Text 7"/>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Modeling Methodology</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18 models: 3 algorithms x 2 target transforms x 3 segments</a:t>
            </a:r>
            <a:endParaRPr lang="en-US" sz="1400" dirty="0"/>
          </a:p>
        </p:txBody>
      </p:sp>
      <p:sp>
        <p:nvSpPr>
          <p:cNvPr id="4" name="Shape 2"/>
          <p:cNvSpPr/>
          <p:nvPr/>
        </p:nvSpPr>
        <p:spPr>
          <a:xfrm>
            <a:off x="548640" y="1673352"/>
            <a:ext cx="82296" cy="594360"/>
          </a:xfrm>
          <a:prstGeom prst="rect">
            <a:avLst/>
          </a:prstGeom>
          <a:solidFill>
            <a:srgbClr val="D6A419"/>
          </a:solidFill>
          <a:ln/>
        </p:spPr>
      </p:sp>
      <p:sp>
        <p:nvSpPr>
          <p:cNvPr id="5" name="Text 3"/>
          <p:cNvSpPr txBox="1"/>
          <p:nvPr/>
        </p:nvSpPr>
        <p:spPr>
          <a:xfrm>
            <a:off x="822960" y="1600200"/>
            <a:ext cx="2377440" cy="731520"/>
          </a:xfrm>
          <a:prstGeom prst="rect">
            <a:avLst/>
          </a:prstGeom>
          <a:noFill/>
          <a:ln/>
        </p:spPr>
        <p:txBody>
          <a:bodyPr wrap="square"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Split</a:t>
            </a:r>
            <a:endParaRPr lang="en-US" sz="1500" dirty="0"/>
          </a:p>
        </p:txBody>
      </p:sp>
      <p:sp>
        <p:nvSpPr>
          <p:cNvPr id="6" name="Text 4"/>
          <p:cNvSpPr txBox="1"/>
          <p:nvPr/>
        </p:nvSpPr>
        <p:spPr>
          <a:xfrm>
            <a:off x="3291840" y="1600200"/>
            <a:ext cx="8321040" cy="731520"/>
          </a:xfrm>
          <a:prstGeom prst="rect">
            <a:avLst/>
          </a:prstGeom>
          <a:noFill/>
          <a:ln/>
        </p:spPr>
        <p:txBody>
          <a:bodyPr wrap="square" rtlCol="0" anchor="t"/>
          <a:lstStyle/>
          <a:p>
            <a:pPr indent="0" marL="0">
              <a:buNone/>
            </a:pPr>
            <a:r>
              <a:rPr lang="en-US" sz="1350" dirty="0">
                <a:solidFill>
                  <a:srgbClr val="1B1F30"/>
                </a:solidFill>
                <a:latin typeface="Calibri" pitchFamily="34" charset="0"/>
                <a:ea typeface="Calibri" pitchFamily="34" charset="-122"/>
                <a:cs typeface="Calibri" pitchFamily="34" charset="-120"/>
              </a:rPr>
              <a:t>80% train / 10% validation / 10% test, stratified by segment, fixed seed</a:t>
            </a:r>
            <a:endParaRPr lang="en-US" sz="1350" dirty="0"/>
          </a:p>
        </p:txBody>
      </p:sp>
      <p:sp>
        <p:nvSpPr>
          <p:cNvPr id="7" name="Shape 5"/>
          <p:cNvSpPr/>
          <p:nvPr/>
        </p:nvSpPr>
        <p:spPr>
          <a:xfrm>
            <a:off x="548640" y="2569464"/>
            <a:ext cx="82296" cy="594360"/>
          </a:xfrm>
          <a:prstGeom prst="rect">
            <a:avLst/>
          </a:prstGeom>
          <a:solidFill>
            <a:srgbClr val="D6A419"/>
          </a:solidFill>
          <a:ln/>
        </p:spPr>
      </p:sp>
      <p:sp>
        <p:nvSpPr>
          <p:cNvPr id="8" name="Text 6"/>
          <p:cNvSpPr txBox="1"/>
          <p:nvPr/>
        </p:nvSpPr>
        <p:spPr>
          <a:xfrm>
            <a:off x="822960" y="2496312"/>
            <a:ext cx="2377440" cy="731520"/>
          </a:xfrm>
          <a:prstGeom prst="rect">
            <a:avLst/>
          </a:prstGeom>
          <a:noFill/>
          <a:ln/>
        </p:spPr>
        <p:txBody>
          <a:bodyPr wrap="square"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Algorithms</a:t>
            </a:r>
            <a:endParaRPr lang="en-US" sz="1500" dirty="0"/>
          </a:p>
        </p:txBody>
      </p:sp>
      <p:sp>
        <p:nvSpPr>
          <p:cNvPr id="9" name="Text 7"/>
          <p:cNvSpPr txBox="1"/>
          <p:nvPr/>
        </p:nvSpPr>
        <p:spPr>
          <a:xfrm>
            <a:off x="3291840" y="2496312"/>
            <a:ext cx="8321040" cy="731520"/>
          </a:xfrm>
          <a:prstGeom prst="rect">
            <a:avLst/>
          </a:prstGeom>
          <a:noFill/>
          <a:ln/>
        </p:spPr>
        <p:txBody>
          <a:bodyPr wrap="square" rtlCol="0" anchor="t"/>
          <a:lstStyle/>
          <a:p>
            <a:pPr indent="0" marL="0">
              <a:buNone/>
            </a:pPr>
            <a:r>
              <a:rPr lang="en-US" sz="1350" dirty="0">
                <a:solidFill>
                  <a:srgbClr val="1B1F30"/>
                </a:solidFill>
                <a:latin typeface="Calibri" pitchFamily="34" charset="0"/>
                <a:ea typeface="Calibri" pitchFamily="34" charset="-122"/>
                <a:cs typeface="Calibri" pitchFamily="34" charset="-120"/>
              </a:rPr>
              <a:t>XGBoost, LightGBM, CatBoost (400 trees, depth 6, lr 0.05, early stopping)</a:t>
            </a:r>
            <a:endParaRPr lang="en-US" sz="1350" dirty="0"/>
          </a:p>
        </p:txBody>
      </p:sp>
      <p:sp>
        <p:nvSpPr>
          <p:cNvPr id="10" name="Shape 8"/>
          <p:cNvSpPr/>
          <p:nvPr/>
        </p:nvSpPr>
        <p:spPr>
          <a:xfrm>
            <a:off x="548640" y="3465576"/>
            <a:ext cx="82296" cy="594360"/>
          </a:xfrm>
          <a:prstGeom prst="rect">
            <a:avLst/>
          </a:prstGeom>
          <a:solidFill>
            <a:srgbClr val="D6A419"/>
          </a:solidFill>
          <a:ln/>
        </p:spPr>
      </p:sp>
      <p:sp>
        <p:nvSpPr>
          <p:cNvPr id="11" name="Text 9"/>
          <p:cNvSpPr txBox="1"/>
          <p:nvPr/>
        </p:nvSpPr>
        <p:spPr>
          <a:xfrm>
            <a:off x="822960" y="3392424"/>
            <a:ext cx="2377440" cy="731520"/>
          </a:xfrm>
          <a:prstGeom prst="rect">
            <a:avLst/>
          </a:prstGeom>
          <a:noFill/>
          <a:ln/>
        </p:spPr>
        <p:txBody>
          <a:bodyPr wrap="square"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Target transform</a:t>
            </a:r>
            <a:endParaRPr lang="en-US" sz="1500" dirty="0"/>
          </a:p>
        </p:txBody>
      </p:sp>
      <p:sp>
        <p:nvSpPr>
          <p:cNvPr id="12" name="Text 10"/>
          <p:cNvSpPr txBox="1"/>
          <p:nvPr/>
        </p:nvSpPr>
        <p:spPr>
          <a:xfrm>
            <a:off x="3291840" y="3392424"/>
            <a:ext cx="8321040" cy="731520"/>
          </a:xfrm>
          <a:prstGeom prst="rect">
            <a:avLst/>
          </a:prstGeom>
          <a:noFill/>
          <a:ln/>
        </p:spPr>
        <p:txBody>
          <a:bodyPr wrap="square" rtlCol="0" anchor="t"/>
          <a:lstStyle/>
          <a:p>
            <a:pPr indent="0" marL="0">
              <a:buNone/>
            </a:pPr>
            <a:r>
              <a:rPr lang="en-US" sz="1350" dirty="0">
                <a:solidFill>
                  <a:srgbClr val="1B1F30"/>
                </a:solidFill>
                <a:latin typeface="Calibri" pitchFamily="34" charset="0"/>
                <a:ea typeface="Calibri" pitchFamily="34" charset="-122"/>
                <a:cs typeface="Calibri" pitchFamily="34" charset="-120"/>
              </a:rPr>
              <a:t>Each algorithm trained on raw TotalCost AND log1p(TotalCost); log1p</a:t>
            </a:r>
            <a:endParaRPr lang="en-US" sz="1350" dirty="0"/>
          </a:p>
          <a:p>
            <a:pPr indent="0" marL="0">
              <a:buNone/>
            </a:pPr>
            <a:r>
              <a:rPr lang="en-US" sz="1350" dirty="0">
                <a:solidFill>
                  <a:srgbClr val="1B1F30"/>
                </a:solidFill>
                <a:latin typeface="Calibri" pitchFamily="34" charset="0"/>
                <a:ea typeface="Calibri" pitchFamily="34" charset="-122"/>
                <a:cs typeface="Calibri" pitchFamily="34" charset="-120"/>
              </a:rPr>
              <a:t>predictions transformed back with expm1 before scoring for fair comparison</a:t>
            </a:r>
            <a:endParaRPr lang="en-US" sz="1350" dirty="0"/>
          </a:p>
        </p:txBody>
      </p:sp>
      <p:sp>
        <p:nvSpPr>
          <p:cNvPr id="13" name="Shape 11"/>
          <p:cNvSpPr/>
          <p:nvPr/>
        </p:nvSpPr>
        <p:spPr>
          <a:xfrm>
            <a:off x="548640" y="4361688"/>
            <a:ext cx="82296" cy="594360"/>
          </a:xfrm>
          <a:prstGeom prst="rect">
            <a:avLst/>
          </a:prstGeom>
          <a:solidFill>
            <a:srgbClr val="D6A419"/>
          </a:solidFill>
          <a:ln/>
        </p:spPr>
      </p:sp>
      <p:sp>
        <p:nvSpPr>
          <p:cNvPr id="14" name="Text 12"/>
          <p:cNvSpPr txBox="1"/>
          <p:nvPr/>
        </p:nvSpPr>
        <p:spPr>
          <a:xfrm>
            <a:off x="822960" y="4288536"/>
            <a:ext cx="2377440" cy="731520"/>
          </a:xfrm>
          <a:prstGeom prst="rect">
            <a:avLst/>
          </a:prstGeom>
          <a:noFill/>
          <a:ln/>
        </p:spPr>
        <p:txBody>
          <a:bodyPr wrap="square"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Explainability</a:t>
            </a:r>
            <a:endParaRPr lang="en-US" sz="1500" dirty="0"/>
          </a:p>
        </p:txBody>
      </p:sp>
      <p:sp>
        <p:nvSpPr>
          <p:cNvPr id="15" name="Text 13"/>
          <p:cNvSpPr txBox="1"/>
          <p:nvPr/>
        </p:nvSpPr>
        <p:spPr>
          <a:xfrm>
            <a:off x="3291840" y="4288536"/>
            <a:ext cx="8321040" cy="731520"/>
          </a:xfrm>
          <a:prstGeom prst="rect">
            <a:avLst/>
          </a:prstGeom>
          <a:noFill/>
          <a:ln/>
        </p:spPr>
        <p:txBody>
          <a:bodyPr wrap="square" rtlCol="0" anchor="t"/>
          <a:lstStyle/>
          <a:p>
            <a:pPr indent="0" marL="0">
              <a:buNone/>
            </a:pPr>
            <a:r>
              <a:rPr lang="en-US" sz="1350" dirty="0">
                <a:solidFill>
                  <a:srgbClr val="1B1F30"/>
                </a:solidFill>
                <a:latin typeface="Calibri" pitchFamily="34" charset="0"/>
                <a:ea typeface="Calibri" pitchFamily="34" charset="-122"/>
                <a:cs typeface="Calibri" pitchFamily="34" charset="-120"/>
              </a:rPr>
              <a:t>SHAP TreeExplainer summary plots for all 18 models (500-row test sample)</a:t>
            </a:r>
            <a:endParaRPr lang="en-US" sz="1350" dirty="0"/>
          </a:p>
        </p:txBody>
      </p:sp>
      <p:sp>
        <p:nvSpPr>
          <p:cNvPr id="16" name="Shape 14"/>
          <p:cNvSpPr/>
          <p:nvPr/>
        </p:nvSpPr>
        <p:spPr>
          <a:xfrm>
            <a:off x="548640" y="5257800"/>
            <a:ext cx="82296" cy="594360"/>
          </a:xfrm>
          <a:prstGeom prst="rect">
            <a:avLst/>
          </a:prstGeom>
          <a:solidFill>
            <a:srgbClr val="D6A419"/>
          </a:solidFill>
          <a:ln/>
        </p:spPr>
      </p:sp>
      <p:sp>
        <p:nvSpPr>
          <p:cNvPr id="17" name="Text 15"/>
          <p:cNvSpPr txBox="1"/>
          <p:nvPr/>
        </p:nvSpPr>
        <p:spPr>
          <a:xfrm>
            <a:off x="822960" y="5184648"/>
            <a:ext cx="2377440" cy="731520"/>
          </a:xfrm>
          <a:prstGeom prst="rect">
            <a:avLst/>
          </a:prstGeom>
          <a:noFill/>
          <a:ln/>
        </p:spPr>
        <p:txBody>
          <a:bodyPr wrap="square"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Metrics</a:t>
            </a:r>
            <a:endParaRPr lang="en-US" sz="1500" dirty="0"/>
          </a:p>
        </p:txBody>
      </p:sp>
      <p:sp>
        <p:nvSpPr>
          <p:cNvPr id="18" name="Text 16"/>
          <p:cNvSpPr txBox="1"/>
          <p:nvPr/>
        </p:nvSpPr>
        <p:spPr>
          <a:xfrm>
            <a:off x="3291840" y="5184648"/>
            <a:ext cx="8321040" cy="731520"/>
          </a:xfrm>
          <a:prstGeom prst="rect">
            <a:avLst/>
          </a:prstGeom>
          <a:noFill/>
          <a:ln/>
        </p:spPr>
        <p:txBody>
          <a:bodyPr wrap="square" rtlCol="0" anchor="t"/>
          <a:lstStyle/>
          <a:p>
            <a:pPr indent="0" marL="0">
              <a:buNone/>
            </a:pPr>
            <a:r>
              <a:rPr lang="en-US" sz="1350" dirty="0">
                <a:solidFill>
                  <a:srgbClr val="1B1F30"/>
                </a:solidFill>
                <a:latin typeface="Calibri" pitchFamily="34" charset="0"/>
                <a:ea typeface="Calibri" pitchFamily="34" charset="-122"/>
                <a:cs typeface="Calibri" pitchFamily="34" charset="-120"/>
              </a:rPr>
              <a:t>MAE, MAPE, RMSE, R² on held-out test data for every model</a:t>
            </a:r>
            <a:endParaRPr lang="en-US" sz="1350" dirty="0"/>
          </a:p>
        </p:txBody>
      </p:sp>
      <p:sp>
        <p:nvSpPr>
          <p:cNvPr id="19" name="Text 17"/>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Model Performance Comparison</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XGBoost (raw target) is the best model in every segment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760720" cy="914400"/>
        </p:xfrm>
        <a:graphic>
          <a:graphicData uri="http://schemas.openxmlformats.org/drawingml/2006/table">
            <a:tbl>
              <a:tblPr/>
              <a:tblGrid>
                <a:gridCol w="1051560"/>
                <a:gridCol w="1691640"/>
                <a:gridCol w="777240"/>
                <a:gridCol w="822960"/>
                <a:gridCol w="777240"/>
                <a:gridCol w="6400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Model</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MAPE</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solidFill>
                      <a:srgbClr val="1E2761"/>
                    </a:solidFill>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XGBoost (raw)</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$85.9</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$147.1</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0.947</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Turvo</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XGBoost (raw)</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$87.3</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$148.9</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0.949</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Magnus</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LightGBM (raw)</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$59.9</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$112.7</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20.7%</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0.860</a:t>
                      </a:r>
                      <a:endParaRPr lang="en-US" sz="1200" dirty="0">
                        <a:latin typeface="Calibri" charset="0"/>
                        <a:ea typeface="Calibri" charset="0"/>
                        <a:cs typeface="Calibri" charset="0"/>
                      </a:endParaRPr>
                    </a:p>
                  </a:txBody>
                  <a:tcPr marL="91440" marR="91440" marT="45720" marB="45720">
                    <a:lnL w="9525" cap="flat" cmpd="sng" algn="ctr">
                      <a:solidFill>
                        <a:srgbClr val="D9DEEC"/>
                      </a:solidFill>
                      <a:prstDash val="solid"/>
                      <a:round/>
                      <a:headEnd type="none" w="med" len="med"/>
                      <a:tailEnd type="none" w="med" len="med"/>
                    </a:lnL>
                    <a:lnR w="9525" cap="flat" cmpd="sng" algn="ctr">
                      <a:solidFill>
                        <a:srgbClr val="D9DEEC"/>
                      </a:solidFill>
                      <a:prstDash val="solid"/>
                      <a:round/>
                      <a:headEnd type="none" w="med" len="med"/>
                      <a:tailEnd type="none" w="med" len="med"/>
                    </a:lnR>
                    <a:lnT w="9525" cap="flat" cmpd="sng" algn="ctr">
                      <a:solidFill>
                        <a:srgbClr val="D9DEEC"/>
                      </a:solidFill>
                      <a:prstDash val="solid"/>
                      <a:round/>
                      <a:headEnd type="none" w="med" len="med"/>
                      <a:tailEnd type="none" w="med" len="med"/>
                    </a:lnT>
                    <a:lnB w="9525" cap="flat" cmpd="sng" algn="ctr">
                      <a:solidFill>
                        <a:srgbClr val="D9DEEC"/>
                      </a:solidFill>
                      <a:prstDash val="solid"/>
                      <a:round/>
                      <a:headEnd type="none" w="med" len="med"/>
                      <a:tailEnd type="none" w="med" len="med"/>
                    </a:lnB>
                  </a:tcPr>
                </a:tc>
              </a:tr>
            </a:tbl>
          </a:graphicData>
        </a:graphic>
      </p:graphicFrame>
      <p:sp>
        <p:nvSpPr>
          <p:cNvPr id="5" name="Text 2"/>
          <p:cNvSpPr txBox="1"/>
          <p:nvPr/>
        </p:nvSpPr>
        <p:spPr>
          <a:xfrm>
            <a:off x="548640" y="3520440"/>
            <a:ext cx="5760720" cy="914400"/>
          </a:xfrm>
          <a:prstGeom prst="rect">
            <a:avLst/>
          </a:prstGeom>
          <a:noFill/>
          <a:ln/>
        </p:spPr>
        <p:txBody>
          <a:bodyPr wrap="square" rtlCol="0" anchor="t"/>
          <a:lstStyle/>
          <a:p>
            <a:pPr indent="0" marL="0">
              <a:buNone/>
            </a:pPr>
            <a:r>
              <a:rPr lang="en-US" sz="1200" i="1" dirty="0">
                <a:solidFill>
                  <a:srgbClr val="3A3F5C"/>
                </a:solidFill>
                <a:latin typeface="Calibri" pitchFamily="34" charset="0"/>
                <a:ea typeface="Calibri" pitchFamily="34" charset="-122"/>
                <a:cs typeface="Calibri" pitchFamily="34" charset="-120"/>
              </a:rPr>
              <a:t>log1p transform: improves MAPE (−2pp avg) but worsens MAE/RMSE/R² — a business trade-off between percentage and dollar accuracy.</a:t>
            </a:r>
            <a:endParaRPr lang="en-US" sz="1200" dirty="0"/>
          </a:p>
        </p:txBody>
      </p:sp>
      <p:sp>
        <p:nvSpPr>
          <p:cNvPr id="6" name="Text 3"/>
          <p:cNvSpPr txBox="1"/>
          <p:nvPr/>
        </p:nvSpPr>
        <p:spPr>
          <a:xfrm>
            <a:off x="548640" y="4434840"/>
            <a:ext cx="5760720" cy="731520"/>
          </a:xfrm>
          <a:prstGeom prst="rect">
            <a:avLst/>
          </a:prstGeom>
          <a:noFill/>
          <a:ln/>
        </p:spPr>
        <p:txBody>
          <a:bodyPr wrap="square" rtlCol="0" anchor="t"/>
          <a:lstStyle/>
          <a:p>
            <a:pPr indent="0" marL="0">
              <a:buNone/>
            </a:pPr>
            <a:r>
              <a:rPr lang="en-US" sz="1200" i="1" dirty="0">
                <a:solidFill>
                  <a:srgbClr val="3A3F5C"/>
                </a:solidFill>
                <a:latin typeface="Calibri" pitchFamily="34" charset="0"/>
                <a:ea typeface="Calibri" pitchFamily="34" charset="-122"/>
                <a:cs typeface="Calibri" pitchFamily="34" charset="-120"/>
              </a:rPr>
              <a:t>XGBoost &gt; LightGBM &gt; CatBoost consistently, though the XGBoost–LightGBM gap is small (&lt;2 R² points).</a:t>
            </a:r>
            <a:endParaRPr lang="en-US" sz="1200" dirty="0"/>
          </a:p>
        </p:txBody>
      </p:sp>
      <p:pic>
        <p:nvPicPr>
          <p:cNvPr id="7" name="Image 0" descr="/home/claude/proj/artifacts/figures/08_model_comparison_all.png">    </p:cNvPr>
          <p:cNvPicPr>
            <a:picLocks noChangeAspect="1"/>
          </p:cNvPicPr>
          <p:nvPr/>
        </p:nvPicPr>
        <p:blipFill>
          <a:blip r:embed="rId1"/>
          <a:stretch>
            <a:fillRect/>
          </a:stretch>
        </p:blipFill>
        <p:spPr>
          <a:xfrm>
            <a:off x="6492240" y="1463040"/>
            <a:ext cx="5212080" cy="4937760"/>
          </a:xfrm>
          <a:prstGeom prst="rect">
            <a:avLst/>
          </a:prstGeom>
        </p:spPr>
      </p:pic>
      <p:sp>
        <p:nvSpPr>
          <p:cNvPr id="8" name="Text 4"/>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SHAP Explainability</a:t>
            </a:r>
            <a:endParaRPr lang="en-US" sz="2800" dirty="0"/>
          </a:p>
        </p:txBody>
      </p:sp>
      <p:sp>
        <p:nvSpPr>
          <p:cNvPr id="3" name="Text 1"/>
          <p:cNvSpPr txBox="1"/>
          <p:nvPr/>
        </p:nvSpPr>
        <p:spPr>
          <a:xfrm>
            <a:off x="457200" y="868680"/>
            <a:ext cx="11247120" cy="365760"/>
          </a:xfrm>
          <a:prstGeom prst="rect">
            <a:avLst/>
          </a:prstGeom>
          <a:noFill/>
          <a:ln/>
        </p:spPr>
        <p:txBody>
          <a:bodyPr wrap="square" rtlCol="0" anchor="ctr"/>
          <a:lstStyle/>
          <a:p>
            <a:pPr indent="0" marL="0">
              <a:buNone/>
            </a:pPr>
            <a:r>
              <a:rPr lang="en-US" sz="1400" dirty="0">
                <a:solidFill>
                  <a:srgbClr val="3A3F5C"/>
                </a:solidFill>
                <a:latin typeface="Calibri" pitchFamily="34" charset="0"/>
                <a:ea typeface="Calibri" pitchFamily="34" charset="-122"/>
                <a:cs typeface="Calibri" pitchFamily="34" charset="-120"/>
              </a:rPr>
              <a:t>Three independent methods agree: lane history &amp; distance drive cost</a:t>
            </a:r>
            <a:endParaRPr lang="en-US" sz="1400" dirty="0"/>
          </a:p>
        </p:txBody>
      </p:sp>
      <p:pic>
        <p:nvPicPr>
          <p:cNvPr id="4" name="Image 0" descr="/home/claude/proj/artifacts/shap/shap_overall_XGBoost_raw.png">    </p:cNvPr>
          <p:cNvPicPr>
            <a:picLocks noChangeAspect="1"/>
          </p:cNvPicPr>
          <p:nvPr/>
        </p:nvPicPr>
        <p:blipFill>
          <a:blip r:embed="rId1"/>
          <a:stretch>
            <a:fillRect/>
          </a:stretch>
        </p:blipFill>
        <p:spPr>
          <a:xfrm>
            <a:off x="548640" y="1417320"/>
            <a:ext cx="6035040" cy="4846320"/>
          </a:xfrm>
          <a:prstGeom prst="rect">
            <a:avLst/>
          </a:prstGeom>
        </p:spPr>
      </p:pic>
      <p:sp>
        <p:nvSpPr>
          <p:cNvPr id="5" name="Text 2"/>
          <p:cNvSpPr txBox="1"/>
          <p:nvPr/>
        </p:nvSpPr>
        <p:spPr>
          <a:xfrm>
            <a:off x="548640" y="6263640"/>
            <a:ext cx="6035040" cy="320040"/>
          </a:xfrm>
          <a:prstGeom prst="rect">
            <a:avLst/>
          </a:prstGeom>
          <a:noFill/>
          <a:ln/>
        </p:spPr>
        <p:txBody>
          <a:bodyPr wrap="square" rtlCol="0" anchor="ctr"/>
          <a:lstStyle/>
          <a:p>
            <a:pPr algn="ctr" indent="0" marL="0">
              <a:buNone/>
            </a:pPr>
            <a:r>
              <a:rPr lang="en-US" sz="1100" i="1" dirty="0">
                <a:solidFill>
                  <a:srgbClr val="3A3F5C"/>
                </a:solidFill>
              </a:rPr>
              <a:t>Best overall model — SHAP summary</a:t>
            </a:r>
            <a:endParaRPr lang="en-US" sz="1100" dirty="0"/>
          </a:p>
        </p:txBody>
      </p:sp>
      <p:sp>
        <p:nvSpPr>
          <p:cNvPr id="6" name="Shape 3"/>
          <p:cNvSpPr/>
          <p:nvPr/>
        </p:nvSpPr>
        <p:spPr>
          <a:xfrm>
            <a:off x="6858000" y="1554480"/>
            <a:ext cx="4846320" cy="4480560"/>
          </a:xfrm>
          <a:prstGeom prst="roundRect">
            <a:avLst>
              <a:gd name="adj" fmla="val 1633"/>
            </a:avLst>
          </a:prstGeom>
          <a:solidFill>
            <a:srgbClr val="F3F5FC"/>
          </a:solidFill>
          <a:ln w="12700">
            <a:solidFill>
              <a:srgbClr val="CADCFC"/>
            </a:solidFill>
            <a:prstDash val="solid"/>
          </a:ln>
        </p:spPr>
      </p:sp>
      <p:sp>
        <p:nvSpPr>
          <p:cNvPr id="7" name="Text 4"/>
          <p:cNvSpPr txBox="1"/>
          <p:nvPr/>
        </p:nvSpPr>
        <p:spPr>
          <a:xfrm>
            <a:off x="7086600" y="1783080"/>
            <a:ext cx="4389120" cy="4023360"/>
          </a:xfrm>
          <a:prstGeom prst="rect">
            <a:avLst/>
          </a:prstGeom>
          <a:noFill/>
          <a:ln/>
        </p:spPr>
        <p:txBody>
          <a:bodyPr wrap="square" rtlCol="0" anchor="t"/>
          <a:lstStyle/>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Historical Lane Cost features (TotalCostOriginMean, TotalCostDestinationMean, TotalCost_mean_6m_lane_state, OriginZip3_TE) are consistently the top SHAP drivers</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Distance features (HaversineMiles, LengthOfHaul) rank second across every one of the 18 models</a:t>
            </a:r>
            <a:endParaRPr lang="en-US" sz="1350" dirty="0"/>
          </a:p>
          <a:p>
            <a:pPr marL="342900" indent="-342900">
              <a:lnSpc>
                <a:spcPct val="115000"/>
              </a:lnSpc>
              <a:spcAft>
                <a:spcPts val="1400"/>
              </a:spcAft>
              <a:buSzPct val="100000"/>
              <a:buChar char="•"/>
            </a:pPr>
            <a:r>
              <a:rPr lang="en-US" sz="1350" dirty="0">
                <a:solidFill>
                  <a:srgbClr val="1B1F30"/>
                </a:solidFill>
                <a:latin typeface="Calibri" pitchFamily="34" charset="0"/>
                <a:ea typeface="Calibri" pitchFamily="34" charset="-122"/>
                <a:cs typeface="Calibri" pitchFamily="34" charset="-120"/>
              </a:rPr>
              <a:t>This agrees with the Pearson-correlation EDA (slide 7) and the Boruta group composition (slide 6) — three independent methods, one consistent answer</a:t>
            </a:r>
            <a:endParaRPr lang="en-US" sz="1350" dirty="0"/>
          </a:p>
        </p:txBody>
      </p:sp>
      <p:sp>
        <p:nvSpPr>
          <p:cNvPr id="8" name="Text 5"/>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Recommendations &amp; Next Steps</a:t>
            </a:r>
            <a:endParaRPr lang="en-US" sz="3000" dirty="0"/>
          </a:p>
        </p:txBody>
      </p:sp>
      <p:sp>
        <p:nvSpPr>
          <p:cNvPr id="3" name="Shape 1"/>
          <p:cNvSpPr/>
          <p:nvPr/>
        </p:nvSpPr>
        <p:spPr>
          <a:xfrm>
            <a:off x="640080" y="1508760"/>
            <a:ext cx="384048" cy="384048"/>
          </a:xfrm>
          <a:prstGeom prst="roundRect">
            <a:avLst>
              <a:gd name="adj" fmla="val 50000"/>
            </a:avLst>
          </a:prstGeom>
          <a:solidFill>
            <a:srgbClr val="D6A419"/>
          </a:solidFill>
          <a:ln/>
        </p:spPr>
      </p:sp>
      <p:sp>
        <p:nvSpPr>
          <p:cNvPr id="4" name="Text 2"/>
          <p:cNvSpPr txBox="1"/>
          <p:nvPr/>
        </p:nvSpPr>
        <p:spPr>
          <a:xfrm>
            <a:off x="640080" y="1508760"/>
            <a:ext cx="384048" cy="384048"/>
          </a:xfrm>
          <a:prstGeom prst="rect">
            <a:avLst/>
          </a:prstGeom>
          <a:noFill/>
          <a:ln/>
        </p:spPr>
        <p:txBody>
          <a:bodyPr wrap="square" rtlCol="0" anchor="ctr"/>
          <a:lstStyle/>
          <a:p>
            <a:pPr algn="ctr" indent="0" marL="0">
              <a:buNone/>
            </a:pPr>
            <a:r>
              <a:rPr lang="en-US" sz="1600" b="1" dirty="0">
                <a:solidFill>
                  <a:srgbClr val="1E2761"/>
                </a:solidFill>
              </a:rPr>
              <a:t>✓</a:t>
            </a:r>
            <a:endParaRPr lang="en-US" sz="1600" dirty="0"/>
          </a:p>
        </p:txBody>
      </p:sp>
      <p:sp>
        <p:nvSpPr>
          <p:cNvPr id="5" name="Text 3"/>
          <p:cNvSpPr txBox="1"/>
          <p:nvPr/>
        </p:nvSpPr>
        <p:spPr>
          <a:xfrm>
            <a:off x="1234440" y="1463040"/>
            <a:ext cx="2377440" cy="548640"/>
          </a:xfrm>
          <a:prstGeom prst="rect">
            <a:avLst/>
          </a:prstGeom>
          <a:noFill/>
          <a:ln/>
        </p:spPr>
        <p:txBody>
          <a:bodyPr wrap="square"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Deploy</a:t>
            </a:r>
            <a:endParaRPr lang="en-US" sz="1500" dirty="0"/>
          </a:p>
        </p:txBody>
      </p:sp>
      <p:sp>
        <p:nvSpPr>
          <p:cNvPr id="6" name="Text 4"/>
          <p:cNvSpPr txBox="1"/>
          <p:nvPr/>
        </p:nvSpPr>
        <p:spPr>
          <a:xfrm>
            <a:off x="3703320" y="1463040"/>
            <a:ext cx="7863840" cy="960120"/>
          </a:xfrm>
          <a:prstGeom prst="rect">
            <a:avLst/>
          </a:prstGeom>
          <a:noFill/>
          <a:ln/>
        </p:spPr>
        <p:txBody>
          <a:bodyPr wrap="square" rtlCol="0" anchor="t"/>
          <a:lstStyle/>
          <a:p>
            <a:pPr indent="0" marL="0">
              <a:buNone/>
            </a:pPr>
            <a:r>
              <a:rPr lang="en-US" sz="1300" dirty="0">
                <a:solidFill>
                  <a:srgbClr val="E4E8F7"/>
                </a:solidFill>
                <a:latin typeface="Calibri" pitchFamily="34" charset="0"/>
                <a:ea typeface="Calibri" pitchFamily="34" charset="-122"/>
                <a:cs typeface="Calibri" pitchFamily="34" charset="-120"/>
              </a:rPr>
              <a:t>XGBoost on the raw target as the primary cost-prediction model (Overall scope); use Turvo/Magnus segment models where segment-level accuracy matters more than a unified pipeline</a:t>
            </a:r>
            <a:endParaRPr lang="en-US" sz="1300" dirty="0"/>
          </a:p>
        </p:txBody>
      </p:sp>
      <p:sp>
        <p:nvSpPr>
          <p:cNvPr id="7" name="Shape 5"/>
          <p:cNvSpPr/>
          <p:nvPr/>
        </p:nvSpPr>
        <p:spPr>
          <a:xfrm>
            <a:off x="640080" y="2679192"/>
            <a:ext cx="384048" cy="384048"/>
          </a:xfrm>
          <a:prstGeom prst="roundRect">
            <a:avLst>
              <a:gd name="adj" fmla="val 50000"/>
            </a:avLst>
          </a:prstGeom>
          <a:solidFill>
            <a:srgbClr val="D6A419"/>
          </a:solidFill>
          <a:ln/>
        </p:spPr>
      </p:sp>
      <p:sp>
        <p:nvSpPr>
          <p:cNvPr id="8" name="Text 6"/>
          <p:cNvSpPr txBox="1"/>
          <p:nvPr/>
        </p:nvSpPr>
        <p:spPr>
          <a:xfrm>
            <a:off x="640080" y="2679192"/>
            <a:ext cx="384048" cy="384048"/>
          </a:xfrm>
          <a:prstGeom prst="rect">
            <a:avLst/>
          </a:prstGeom>
          <a:noFill/>
          <a:ln/>
        </p:spPr>
        <p:txBody>
          <a:bodyPr wrap="square" rtlCol="0" anchor="ctr"/>
          <a:lstStyle/>
          <a:p>
            <a:pPr algn="ctr" indent="0" marL="0">
              <a:buNone/>
            </a:pPr>
            <a:r>
              <a:rPr lang="en-US" sz="1600" b="1" dirty="0">
                <a:solidFill>
                  <a:srgbClr val="1E2761"/>
                </a:solidFill>
              </a:rPr>
              <a:t>✓</a:t>
            </a:r>
            <a:endParaRPr lang="en-US" sz="1600" dirty="0"/>
          </a:p>
        </p:txBody>
      </p:sp>
      <p:sp>
        <p:nvSpPr>
          <p:cNvPr id="9" name="Text 7"/>
          <p:cNvSpPr txBox="1"/>
          <p:nvPr/>
        </p:nvSpPr>
        <p:spPr>
          <a:xfrm>
            <a:off x="1234440" y="2633472"/>
            <a:ext cx="2377440" cy="548640"/>
          </a:xfrm>
          <a:prstGeom prst="rect">
            <a:avLst/>
          </a:prstGeom>
          <a:noFill/>
          <a:ln/>
        </p:spPr>
        <p:txBody>
          <a:bodyPr wrap="square"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Fix data capture</a:t>
            </a:r>
            <a:endParaRPr lang="en-US" sz="1500" dirty="0"/>
          </a:p>
        </p:txBody>
      </p:sp>
      <p:sp>
        <p:nvSpPr>
          <p:cNvPr id="10" name="Text 8"/>
          <p:cNvSpPr txBox="1"/>
          <p:nvPr/>
        </p:nvSpPr>
        <p:spPr>
          <a:xfrm>
            <a:off x="3703320" y="2633472"/>
            <a:ext cx="7863840" cy="960120"/>
          </a:xfrm>
          <a:prstGeom prst="rect">
            <a:avLst/>
          </a:prstGeom>
          <a:noFill/>
          <a:ln/>
        </p:spPr>
        <p:txBody>
          <a:bodyPr wrap="square" rtlCol="0" anchor="t"/>
          <a:lstStyle/>
          <a:p>
            <a:pPr indent="0" marL="0">
              <a:buNone/>
            </a:pPr>
            <a:r>
              <a:rPr lang="en-US" sz="1300" dirty="0">
                <a:solidFill>
                  <a:srgbClr val="E4E8F7"/>
                </a:solidFill>
                <a:latin typeface="Calibri" pitchFamily="34" charset="0"/>
                <a:ea typeface="Calibri" pitchFamily="34" charset="-122"/>
                <a:cs typeface="Calibri" pitchFamily="34" charset="-120"/>
              </a:rPr>
              <a:t>Populate EquipmentType/Enclosed for Magnus shipments — would remove the need for imputation and likely close part of the Turvo–Magnus R² gap</a:t>
            </a:r>
            <a:endParaRPr lang="en-US" sz="1300" dirty="0"/>
          </a:p>
        </p:txBody>
      </p:sp>
      <p:sp>
        <p:nvSpPr>
          <p:cNvPr id="11" name="Shape 9"/>
          <p:cNvSpPr/>
          <p:nvPr/>
        </p:nvSpPr>
        <p:spPr>
          <a:xfrm>
            <a:off x="640080" y="3849624"/>
            <a:ext cx="384048" cy="384048"/>
          </a:xfrm>
          <a:prstGeom prst="roundRect">
            <a:avLst>
              <a:gd name="adj" fmla="val 50000"/>
            </a:avLst>
          </a:prstGeom>
          <a:solidFill>
            <a:srgbClr val="D6A419"/>
          </a:solidFill>
          <a:ln/>
        </p:spPr>
      </p:sp>
      <p:sp>
        <p:nvSpPr>
          <p:cNvPr id="12" name="Text 10"/>
          <p:cNvSpPr txBox="1"/>
          <p:nvPr/>
        </p:nvSpPr>
        <p:spPr>
          <a:xfrm>
            <a:off x="640080" y="3849624"/>
            <a:ext cx="384048" cy="384048"/>
          </a:xfrm>
          <a:prstGeom prst="rect">
            <a:avLst/>
          </a:prstGeom>
          <a:noFill/>
          <a:ln/>
        </p:spPr>
        <p:txBody>
          <a:bodyPr wrap="square" rtlCol="0" anchor="ctr"/>
          <a:lstStyle/>
          <a:p>
            <a:pPr algn="ctr" indent="0" marL="0">
              <a:buNone/>
            </a:pPr>
            <a:r>
              <a:rPr lang="en-US" sz="1600" b="1" dirty="0">
                <a:solidFill>
                  <a:srgbClr val="1E2761"/>
                </a:solidFill>
              </a:rPr>
              <a:t>✓</a:t>
            </a:r>
            <a:endParaRPr lang="en-US" sz="1600" dirty="0"/>
          </a:p>
        </p:txBody>
      </p:sp>
      <p:sp>
        <p:nvSpPr>
          <p:cNvPr id="13" name="Text 11"/>
          <p:cNvSpPr txBox="1"/>
          <p:nvPr/>
        </p:nvSpPr>
        <p:spPr>
          <a:xfrm>
            <a:off x="1234440" y="3803904"/>
            <a:ext cx="2377440" cy="548640"/>
          </a:xfrm>
          <a:prstGeom prst="rect">
            <a:avLst/>
          </a:prstGeom>
          <a:noFill/>
          <a:ln/>
        </p:spPr>
        <p:txBody>
          <a:bodyPr wrap="square"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Extend to the tail</a:t>
            </a:r>
            <a:endParaRPr lang="en-US" sz="1500" dirty="0"/>
          </a:p>
        </p:txBody>
      </p:sp>
      <p:sp>
        <p:nvSpPr>
          <p:cNvPr id="14" name="Text 12"/>
          <p:cNvSpPr txBox="1"/>
          <p:nvPr/>
        </p:nvSpPr>
        <p:spPr>
          <a:xfrm>
            <a:off x="3703320" y="3803904"/>
            <a:ext cx="7863840" cy="960120"/>
          </a:xfrm>
          <a:prstGeom prst="rect">
            <a:avLst/>
          </a:prstGeom>
          <a:noFill/>
          <a:ln/>
        </p:spPr>
        <p:txBody>
          <a:bodyPr wrap="square" rtlCol="0" anchor="t"/>
          <a:lstStyle/>
          <a:p>
            <a:pPr indent="0" marL="0">
              <a:buNone/>
            </a:pPr>
            <a:r>
              <a:rPr lang="en-US" sz="1300" dirty="0">
                <a:solidFill>
                  <a:srgbClr val="E4E8F7"/>
                </a:solidFill>
                <a:latin typeface="Calibri" pitchFamily="34" charset="0"/>
                <a:ea typeface="Calibri" pitchFamily="34" charset="-122"/>
                <a:cs typeface="Calibri" pitchFamily="34" charset="-120"/>
              </a:rPr>
              <a:t>Consider a hurdle or quantile-regression approach for the very-high-cost shipments removed by IQR outlier filtering, if the business needs those predictions too</a:t>
            </a:r>
            <a:endParaRPr lang="en-US" sz="1300" dirty="0"/>
          </a:p>
        </p:txBody>
      </p:sp>
      <p:sp>
        <p:nvSpPr>
          <p:cNvPr id="15" name="Shape 13"/>
          <p:cNvSpPr/>
          <p:nvPr/>
        </p:nvSpPr>
        <p:spPr>
          <a:xfrm>
            <a:off x="640080" y="5020056"/>
            <a:ext cx="384048" cy="384048"/>
          </a:xfrm>
          <a:prstGeom prst="roundRect">
            <a:avLst>
              <a:gd name="adj" fmla="val 50000"/>
            </a:avLst>
          </a:prstGeom>
          <a:solidFill>
            <a:srgbClr val="D6A419"/>
          </a:solidFill>
          <a:ln/>
        </p:spPr>
      </p:sp>
      <p:sp>
        <p:nvSpPr>
          <p:cNvPr id="16" name="Text 14"/>
          <p:cNvSpPr txBox="1"/>
          <p:nvPr/>
        </p:nvSpPr>
        <p:spPr>
          <a:xfrm>
            <a:off x="640080" y="5020056"/>
            <a:ext cx="384048" cy="384048"/>
          </a:xfrm>
          <a:prstGeom prst="rect">
            <a:avLst/>
          </a:prstGeom>
          <a:noFill/>
          <a:ln/>
        </p:spPr>
        <p:txBody>
          <a:bodyPr wrap="square" rtlCol="0" anchor="ctr"/>
          <a:lstStyle/>
          <a:p>
            <a:pPr algn="ctr" indent="0" marL="0">
              <a:buNone/>
            </a:pPr>
            <a:r>
              <a:rPr lang="en-US" sz="1600" b="1" dirty="0">
                <a:solidFill>
                  <a:srgbClr val="1E2761"/>
                </a:solidFill>
              </a:rPr>
              <a:t>✓</a:t>
            </a:r>
            <a:endParaRPr lang="en-US" sz="1600" dirty="0"/>
          </a:p>
        </p:txBody>
      </p:sp>
      <p:sp>
        <p:nvSpPr>
          <p:cNvPr id="17" name="Text 15"/>
          <p:cNvSpPr txBox="1"/>
          <p:nvPr/>
        </p:nvSpPr>
        <p:spPr>
          <a:xfrm>
            <a:off x="1234440" y="4974336"/>
            <a:ext cx="2377440" cy="548640"/>
          </a:xfrm>
          <a:prstGeom prst="rect">
            <a:avLst/>
          </a:prstGeom>
          <a:noFill/>
          <a:ln/>
        </p:spPr>
        <p:txBody>
          <a:bodyPr wrap="square"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Retrain periodically</a:t>
            </a:r>
            <a:endParaRPr lang="en-US" sz="1500" dirty="0"/>
          </a:p>
        </p:txBody>
      </p:sp>
      <p:sp>
        <p:nvSpPr>
          <p:cNvPr id="18" name="Text 16"/>
          <p:cNvSpPr txBox="1"/>
          <p:nvPr/>
        </p:nvSpPr>
        <p:spPr>
          <a:xfrm>
            <a:off x="3703320" y="4974336"/>
            <a:ext cx="7863840" cy="960120"/>
          </a:xfrm>
          <a:prstGeom prst="rect">
            <a:avLst/>
          </a:prstGeom>
          <a:noFill/>
          <a:ln/>
        </p:spPr>
        <p:txBody>
          <a:bodyPr wrap="square" rtlCol="0" anchor="t"/>
          <a:lstStyle/>
          <a:p>
            <a:pPr indent="0" marL="0">
              <a:buNone/>
            </a:pPr>
            <a:r>
              <a:rPr lang="en-US" sz="1300" dirty="0">
                <a:solidFill>
                  <a:srgbClr val="E4E8F7"/>
                </a:solidFill>
                <a:latin typeface="Calibri" pitchFamily="34" charset="0"/>
                <a:ea typeface="Calibri" pitchFamily="34" charset="-122"/>
                <a:cs typeface="Calibri" pitchFamily="34" charset="-120"/>
              </a:rPr>
              <a:t>Historical Lane Cost features are rolling time windows and Market Conditions are macro series — both will drift and need refresh</a:t>
            </a:r>
            <a:endParaRPr lang="en-US" sz="1300" dirty="0"/>
          </a:p>
        </p:txBody>
      </p:sp>
      <p:sp>
        <p:nvSpPr>
          <p:cNvPr id="19" name="Text 17"/>
          <p:cNvSpPr txBox="1"/>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9A9A9A"/>
                </a:solidFill>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2026-08-29T13:28:58Z</dcterms:created>
  <dcterms:modified xsi:type="dcterms:W3CDTF">2026-08-29T13:28:58Z</dcterms:modified>
</cp:coreProperties>
</file>